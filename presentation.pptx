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E48658-65FA-4046-B87C-0B2F6CB7E77C}" v="3" dt="2026-10-11T00:53:44.6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33962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8초]
안녕하세요. 온디바이스 AI 자율주행 드론 팀입니다. 레이더가 놓치는 작은 비행체를 드론이 직접 보고 식별하는 시스템을 발표하겠습니다.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저희가 고른 과제는 '수도권 영공 소형드론·풍선 침투 대응', Gray-zone C-UAS입니다. 도심 상공에 들어온 소형 드론과 풍선을 탐지하고, 추적하고, 식별해서, 대응 결심까지 지원하는 체계를 만드는 것이 목표입니다.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문제는 지금의 탐지 체계입니다. 도심에서는 어떤 센서든 약해집니다. 레이더는 빌딩 반사로 한 물체가 여러 방향에서 잡히고, 소형 쿼드는 새와 비슷하게 보여 오경보가 많습니다. 전파 수신은 전파를 안 내는 풍선이나 자율비행 드론을 아예 못 잡고, 카메라는 빌딩에 가리고, 음향은 바람에 약합니다.
실제로 2024년 오물풍선 때 군은 격추하지 않고 낙하 후 수거 원칙으로 대응했습니다. 공중에서 터뜨리면 위해 물질이 더 퍼지기 때문입니다. 그 사이 낙하물이 5천 개 넘게 떨어졌고 피해는 78건이었습니다. 2022년 12월에는 북한 무인기 다섯 대가 들어와 한 대는 서울 북부까지 왔는데 한 대도 격추하지 못했습니다.
그래서 저희는 레이더에 안 잡히는 이 작은 객체를 정찰 드론의 카메라로 직접 탐지하고, AI가 새인지 풍선인지 무인기인지 식별하도록 했습니다.
[상세 출처 — 노션 T1-03_도심CUAS_현황조사_20261010]
합참 오물풍선 대응 원칙(위키트리), 낙하물 5,462개·피해 78건(경기일보 2024.10.09), UK MoD Countering drones, Canada DND C-UAS (Urban) Sandbox 2027, 미 DIU 수동형 RF, D-Fend 탐지기술 비교, Counter-UAS 101 음향 탐지</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이것이 저희 프로토타입입니다. 동체는 팀에서 직접 설계해서 3D 프린팅으로 출력했습니다. 그리고 이번 해커톤에서 AI 기반 플라이트 컨트롤러를 구현했습니다.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
기체에 들어가는 비행 컨트롤러도 직접 설계하고 있습니다. STM32F405를 MCU로, MPU-6500 자이로와 BMP280 기압계, 그리고 탐지 결과를 화면에 띄울 OSD 칩까지 넣었고, 현재 회로 설계 단계입니다.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 — 영상은 앞 15~20초만 재생]
이제 기술입니다. 첫 번째는 실시간 송출 화면에서의 객체 탐지입니다. 드론 카메라가 보내는 화면을 그대로 입력받아서 프레임마다 판별합니다. 무인기 클래스는 저희 프로토타입 기체의 이미지를 직접 학습시켰기 때문에, 저희 드론을 보고 무인기로 탐지합니다.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탐지 결과는 대응 결심을 돕는 근무자용 GUI로 정리됩니다. 왼쪽 위가 송출 화면, 아래가 현재 객체 정보와 대응 방법입니다. 오른쪽에는 이벤트로 찍힌 객체 사진과 이벤트 로그가 쌓입니다. 새는 위협이 아니기 때문에 자동으로 상황 종료 처리하고, 풍선과 무인기는 미확인 상태로 남겨 근무자가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앞으로 할 것은 네 가지입니다. 첫째, 고글 송출 화면 위에 OSD로 탐지한 객체 이름을 바로 띄우는 것. 둘째와 셋째는 대응 단계로, 풍선이면 부착형 추적 드론, 무인기면 요격 드론을 투입하는 과정이고 시뮬레이션은 다음 장에서 보여드립니다. 마지막으로 지금은 노트북에서 돌리는 탐지 모델을 경량화해서 드론 기체에 직접 올리는 것이 최종 목표입니다.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오물풍선은 도심에서 터뜨리면 오물이 비산하고 파편이 떨어지기 때문에 요격하지 않습니다. 기낭은 건드리지 않고, 오물을 실은 적재 부위에 접근해서 초소형 GPS 트래커를 물리적으로 꽂습니다. 그러면 풍선이 터져 내용물이 흩어지더라도 최종 낙하 지점까지 궤적이 남고, 낙하 예상 지역에 실시간으로 경고를 보낼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무인기로 확정되면 별도의 요격 드론이 출격합니다. 온디바이스 엣지 AI가 목표의 회피 기동을 프레임마다 다시 잡아 궤적을 갱신하고, 탄약을 쓰지 않고 기체로 직접 충돌해 무력화합니다. 도심 상공에서 파편 피해를 줄이기 위한 선택입니다.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10초]
레이더가 놓치는 작은 비행체를 드론이 먼저 보고, AI가 식별하고, 사람이 최종 결심하는 구조를 해커톤에서 실제로 동작시켜 봤습니다. 이상으로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Text 2"/>
          <p:cNvSpPr txBox="1"/>
          <p:nvPr/>
        </p:nvSpPr>
        <p:spPr>
          <a:xfrm>
            <a:off x="499262" y="498348"/>
            <a:ext cx="5486400" cy="274320"/>
          </a:xfrm>
          <a:prstGeom prst="rect">
            <a:avLst/>
          </a:prstGeom>
          <a:noFill/>
          <a:ln/>
        </p:spPr>
        <p:txBody>
          <a:bodyPr wrap="square" lIns="0" tIns="0" rIns="0" bIns="0" rtlCol="0" anchor="ctr"/>
          <a:lstStyle/>
          <a:p>
            <a:pPr marL="0" indent="0">
              <a:buNone/>
            </a:pPr>
            <a:r>
              <a:rPr lang="en-US" sz="1200" dirty="0">
                <a:solidFill>
                  <a:srgbClr val="8A8A8A"/>
                </a:solidFill>
                <a:latin typeface="맑은 고딕" pitchFamily="34" charset="0"/>
                <a:ea typeface="맑은 고딕" pitchFamily="34" charset="-122"/>
                <a:cs typeface="맑은 고딕" pitchFamily="34" charset="-120"/>
              </a:rPr>
              <a:t>HACKATHON  ·  T1 – 3</a:t>
            </a:r>
            <a:endParaRPr lang="en-US" sz="1200" dirty="0"/>
          </a:p>
        </p:txBody>
      </p:sp>
      <p:pic>
        <p:nvPicPr>
          <p:cNvPr id="5" name="Image 0" descr="/tmp/claude-0/-home-claude/b1200c36-f821-5d38-9354-3ed6e3ae1f6e/scratchpad/a2/drone_pip.jpg"/>
          <p:cNvPicPr>
            <a:picLocks noChangeAspect="1"/>
          </p:cNvPicPr>
          <p:nvPr/>
        </p:nvPicPr>
        <p:blipFill>
          <a:blip r:embed="rId3"/>
          <a:stretch>
            <a:fillRect/>
          </a:stretch>
        </p:blipFill>
        <p:spPr>
          <a:xfrm>
            <a:off x="4846320" y="1078992"/>
            <a:ext cx="2505456" cy="2221992"/>
          </a:xfrm>
          <a:prstGeom prst="rect">
            <a:avLst/>
          </a:prstGeom>
        </p:spPr>
      </p:pic>
      <p:sp>
        <p:nvSpPr>
          <p:cNvPr id="6" name="Text 3"/>
          <p:cNvSpPr txBox="1"/>
          <p:nvPr/>
        </p:nvSpPr>
        <p:spPr>
          <a:xfrm>
            <a:off x="548640" y="3474720"/>
            <a:ext cx="11094415" cy="274320"/>
          </a:xfrm>
          <a:prstGeom prst="rect">
            <a:avLst/>
          </a:prstGeom>
          <a:noFill/>
          <a:ln/>
        </p:spPr>
        <p:txBody>
          <a:bodyPr wrap="square" lIns="0" tIns="0" rIns="0" bIns="0" rtlCol="0" anchor="ctr"/>
          <a:lstStyle/>
          <a:p>
            <a:pPr marL="0" indent="0" algn="ctr">
              <a:buNone/>
            </a:pPr>
            <a:r>
              <a:rPr lang="en-US" sz="1400" b="1" dirty="0">
                <a:solidFill>
                  <a:srgbClr val="77933C"/>
                </a:solidFill>
                <a:latin typeface="맑은 고딕" pitchFamily="34" charset="0"/>
                <a:ea typeface="맑은 고딕" pitchFamily="34" charset="-122"/>
                <a:cs typeface="맑은 고딕" pitchFamily="34" charset="-120"/>
              </a:rPr>
              <a:t>레이더가 놓치는 소형 비행체의 드론 기반 탐지 및 대응</a:t>
            </a:r>
            <a:endParaRPr lang="en-US" sz="1400" dirty="0"/>
          </a:p>
        </p:txBody>
      </p:sp>
      <p:sp>
        <p:nvSpPr>
          <p:cNvPr id="7" name="Text 4"/>
          <p:cNvSpPr txBox="1"/>
          <p:nvPr/>
        </p:nvSpPr>
        <p:spPr>
          <a:xfrm>
            <a:off x="548640" y="3785616"/>
            <a:ext cx="11094415" cy="786384"/>
          </a:xfrm>
          <a:prstGeom prst="rect">
            <a:avLst/>
          </a:prstGeom>
          <a:noFill/>
          <a:ln/>
        </p:spPr>
        <p:txBody>
          <a:bodyPr wrap="square" lIns="0" tIns="0" rIns="0" bIns="0" rtlCol="0" anchor="ctr"/>
          <a:lstStyle/>
          <a:p>
            <a:pPr marL="0" indent="0" algn="ctr">
              <a:buNone/>
            </a:pPr>
            <a:r>
              <a:rPr lang="en-US" sz="4400" b="1" dirty="0">
                <a:solidFill>
                  <a:srgbClr val="000000"/>
                </a:solidFill>
                <a:latin typeface="맑은 고딕" pitchFamily="34" charset="0"/>
                <a:ea typeface="맑은 고딕" pitchFamily="34" charset="-122"/>
                <a:cs typeface="맑은 고딕" pitchFamily="34" charset="-120"/>
              </a:rPr>
              <a:t>엣지 AI 정찰 및 요격 드론</a:t>
            </a:r>
            <a:endParaRPr lang="en-US" sz="4400" dirty="0"/>
          </a:p>
        </p:txBody>
      </p:sp>
      <p:sp>
        <p:nvSpPr>
          <p:cNvPr id="8" name="Shape 5"/>
          <p:cNvSpPr/>
          <p:nvPr/>
        </p:nvSpPr>
        <p:spPr>
          <a:xfrm>
            <a:off x="1727302" y="4727448"/>
            <a:ext cx="8738006" cy="25603"/>
          </a:xfrm>
          <a:prstGeom prst="rect">
            <a:avLst/>
          </a:prstGeom>
          <a:solidFill>
            <a:srgbClr val="BFBFBF"/>
          </a:solidFill>
          <a:ln/>
        </p:spPr>
        <p:txBody>
          <a:bodyPr/>
          <a:lstStyle/>
          <a:p>
            <a:endParaRPr lang="ko-KR" altLang="en-US"/>
          </a:p>
        </p:txBody>
      </p:sp>
      <p:sp>
        <p:nvSpPr>
          <p:cNvPr id="9" name="Text 6"/>
          <p:cNvSpPr txBox="1"/>
          <p:nvPr/>
        </p:nvSpPr>
        <p:spPr>
          <a:xfrm>
            <a:off x="548640" y="4882896"/>
            <a:ext cx="11094415" cy="274320"/>
          </a:xfrm>
          <a:prstGeom prst="rect">
            <a:avLst/>
          </a:prstGeom>
          <a:noFill/>
          <a:ln/>
        </p:spPr>
        <p:txBody>
          <a:bodyPr wrap="square" lIns="0" tIns="0" rIns="0" bIns="0" rtlCol="0" anchor="ctr"/>
          <a:lstStyle/>
          <a:p>
            <a:pPr marL="0" indent="0" algn="ctr">
              <a:buNone/>
            </a:pPr>
            <a:r>
              <a:rPr lang="en-US" sz="1300" dirty="0">
                <a:solidFill>
                  <a:srgbClr val="595959"/>
                </a:solidFill>
                <a:latin typeface="맑은 고딕" pitchFamily="34" charset="0"/>
                <a:ea typeface="맑은 고딕" pitchFamily="34" charset="-122"/>
                <a:cs typeface="맑은 고딕" pitchFamily="34" charset="-120"/>
              </a:rPr>
              <a:t>정찰 드론 카메라 기반 실시간 식별과 객체별 대응 체계</a:t>
            </a:r>
            <a:endParaRPr lang="en-US" sz="1300" dirty="0"/>
          </a:p>
        </p:txBody>
      </p:sp>
      <p:sp>
        <p:nvSpPr>
          <p:cNvPr id="10" name="Text 7"/>
          <p:cNvSpPr txBox="1"/>
          <p:nvPr/>
        </p:nvSpPr>
        <p:spPr>
          <a:xfrm>
            <a:off x="548640" y="5175504"/>
            <a:ext cx="11094415" cy="274320"/>
          </a:xfrm>
          <a:prstGeom prst="rect">
            <a:avLst/>
          </a:prstGeom>
          <a:noFill/>
          <a:ln/>
        </p:spPr>
        <p:txBody>
          <a:bodyPr wrap="square" lIns="0" tIns="0" rIns="0" bIns="0" rtlCol="0" anchor="ctr"/>
          <a:lstStyle/>
          <a:p>
            <a:pPr marL="0" indent="0" algn="ctr">
              <a:buNone/>
            </a:pPr>
            <a:r>
              <a:rPr lang="en-US" sz="1100" dirty="0">
                <a:solidFill>
                  <a:srgbClr val="8A8A8A"/>
                </a:solidFill>
                <a:latin typeface="맑은 고딕" pitchFamily="34" charset="0"/>
                <a:ea typeface="맑은 고딕" pitchFamily="34" charset="-122"/>
                <a:cs typeface="맑은 고딕" pitchFamily="34" charset="-120"/>
              </a:rPr>
              <a:t>과제 03  Gray-zone C-UAS</a:t>
            </a:r>
            <a:endParaRPr lang="en-US" sz="1100" dirty="0"/>
          </a:p>
        </p:txBody>
      </p:sp>
      <p:pic>
        <p:nvPicPr>
          <p:cNvPr id="11" name="Image 1" descr="/tmp/claude-0/-home-claude/b1200c36-f821-5d38-9354-3ed6e3ae1f6e/scratchpad/a2/knut_logo.png"/>
          <p:cNvPicPr>
            <a:picLocks noChangeAspect="1"/>
          </p:cNvPicPr>
          <p:nvPr/>
        </p:nvPicPr>
        <p:blipFill>
          <a:blip r:embed="rId4"/>
          <a:stretch>
            <a:fillRect/>
          </a:stretch>
        </p:blipFill>
        <p:spPr>
          <a:xfrm>
            <a:off x="458114" y="5891479"/>
            <a:ext cx="1686154" cy="384048"/>
          </a:xfrm>
          <a:prstGeom prst="rect">
            <a:avLst/>
          </a:prstGeom>
        </p:spPr>
      </p:pic>
      <p:sp>
        <p:nvSpPr>
          <p:cNvPr id="12" name="Text 8"/>
          <p:cNvSpPr txBox="1"/>
          <p:nvPr/>
        </p:nvSpPr>
        <p:spPr>
          <a:xfrm>
            <a:off x="6858000" y="5916168"/>
            <a:ext cx="4868266" cy="347472"/>
          </a:xfrm>
          <a:prstGeom prst="rect">
            <a:avLst/>
          </a:prstGeom>
          <a:noFill/>
          <a:ln/>
        </p:spPr>
        <p:txBody>
          <a:bodyPr wrap="square" lIns="0" tIns="0" rIns="0" bIns="0" rtlCol="0" anchor="ctr"/>
          <a:lstStyle/>
          <a:p>
            <a:pPr marL="0" indent="0" algn="r">
              <a:buNone/>
            </a:pPr>
            <a:r>
              <a:rPr lang="en-US" sz="1500" b="1" dirty="0">
                <a:solidFill>
                  <a:srgbClr val="000000"/>
                </a:solidFill>
                <a:latin typeface="맑은 고딕" pitchFamily="34" charset="0"/>
                <a:ea typeface="맑은 고딕" pitchFamily="34" charset="-122"/>
                <a:cs typeface="맑은 고딕" pitchFamily="34" charset="-120"/>
              </a:rPr>
              <a:t>김유나 · 강민서 · 박찬우 · 박준성</a:t>
            </a:r>
            <a:endParaRPr lang="en-US" sz="1500" dirty="0"/>
          </a:p>
        </p:txBody>
      </p:sp>
      <p:sp>
        <p:nvSpPr>
          <p:cNvPr id="13" name="Shape 9"/>
          <p:cNvSpPr/>
          <p:nvPr/>
        </p:nvSpPr>
        <p:spPr>
          <a:xfrm>
            <a:off x="457200" y="6392570"/>
            <a:ext cx="11267237" cy="0"/>
          </a:xfrm>
          <a:prstGeom prst="line">
            <a:avLst/>
          </a:prstGeom>
          <a:noFill/>
          <a:ln w="12700">
            <a:solidFill>
              <a:srgbClr val="BCCBD9"/>
            </a:solidFill>
            <a:prstDash val="solid"/>
          </a:ln>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02.</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수도권 영공 소형드론 · 풍선 침투 대응</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과제 03 · Gray-zone Counter-UAS</a:t>
            </a:r>
            <a:endParaRPr lang="en-US" sz="1300" dirty="0"/>
          </a:p>
        </p:txBody>
      </p:sp>
      <p:sp>
        <p:nvSpPr>
          <p:cNvPr id="10" name="Shape 8"/>
          <p:cNvSpPr/>
          <p:nvPr/>
        </p:nvSpPr>
        <p:spPr>
          <a:xfrm>
            <a:off x="524866" y="2304288"/>
            <a:ext cx="11179454" cy="1298448"/>
          </a:xfrm>
          <a:prstGeom prst="rect">
            <a:avLst/>
          </a:prstGeom>
          <a:solidFill>
            <a:srgbClr val="EEF1F7"/>
          </a:solidFill>
          <a:ln/>
        </p:spPr>
        <p:txBody>
          <a:bodyPr/>
          <a:lstStyle/>
          <a:p>
            <a:endParaRPr lang="ko-KR" altLang="en-US"/>
          </a:p>
        </p:txBody>
      </p:sp>
      <p:sp>
        <p:nvSpPr>
          <p:cNvPr id="11" name="Text 9"/>
          <p:cNvSpPr txBox="1"/>
          <p:nvPr/>
        </p:nvSpPr>
        <p:spPr>
          <a:xfrm>
            <a:off x="799186" y="2450592"/>
            <a:ext cx="3657600" cy="256032"/>
          </a:xfrm>
          <a:prstGeom prst="rect">
            <a:avLst/>
          </a:prstGeom>
          <a:noFill/>
          <a:ln/>
        </p:spPr>
        <p:txBody>
          <a:bodyPr wrap="square" lIns="0" tIns="0" rIns="0" bIns="0" rtlCol="0" anchor="ctr"/>
          <a:lstStyle/>
          <a:p>
            <a:pPr marL="0" indent="0">
              <a:buNone/>
            </a:pPr>
            <a:r>
              <a:rPr lang="en-US" sz="1200" b="1" dirty="0">
                <a:solidFill>
                  <a:srgbClr val="002060"/>
                </a:solidFill>
                <a:latin typeface="맑은 고딕" pitchFamily="34" charset="0"/>
                <a:ea typeface="맑은 고딕" pitchFamily="34" charset="-122"/>
                <a:cs typeface="맑은 고딕" pitchFamily="34" charset="-120"/>
              </a:rPr>
              <a:t>도전 과제</a:t>
            </a:r>
            <a:endParaRPr lang="en-US" sz="1200" dirty="0"/>
          </a:p>
        </p:txBody>
      </p:sp>
      <p:sp>
        <p:nvSpPr>
          <p:cNvPr id="12" name="Text 10"/>
          <p:cNvSpPr txBox="1"/>
          <p:nvPr/>
        </p:nvSpPr>
        <p:spPr>
          <a:xfrm>
            <a:off x="799186" y="2761488"/>
            <a:ext cx="10630814" cy="731520"/>
          </a:xfrm>
          <a:prstGeom prst="rect">
            <a:avLst/>
          </a:prstGeom>
          <a:noFill/>
          <a:ln/>
        </p:spPr>
        <p:txBody>
          <a:bodyPr wrap="square" lIns="0" tIns="0" rIns="0" bIns="0" rtlCol="0" anchor="ctr"/>
          <a:lstStyle/>
          <a:p>
            <a:pPr marL="0" indent="0">
              <a:lnSpc>
                <a:spcPct val="130000"/>
              </a:lnSpc>
              <a:buNone/>
            </a:pPr>
            <a:r>
              <a:rPr lang="en-US" sz="1350" dirty="0">
                <a:solidFill>
                  <a:srgbClr val="000000"/>
                </a:solidFill>
                <a:latin typeface="맑은 고딕" pitchFamily="34" charset="0"/>
                <a:ea typeface="맑은 고딕" pitchFamily="34" charset="-122"/>
                <a:cs typeface="맑은 고딕" pitchFamily="34" charset="-120"/>
              </a:rPr>
              <a:t>도심 환경에서 소형 드론 · 풍선 등 저신호 비행체의 탐지 · 추적 · 식별 및 위협도 평가를 통해 대응 결심을 지원하는 Gray-zone Counter-UAS 체계 개발</a:t>
            </a:r>
            <a:endParaRPr lang="en-US" sz="1350" dirty="0"/>
          </a:p>
        </p:txBody>
      </p:sp>
      <p:sp>
        <p:nvSpPr>
          <p:cNvPr id="13" name="Shape 11"/>
          <p:cNvSpPr/>
          <p:nvPr/>
        </p:nvSpPr>
        <p:spPr>
          <a:xfrm>
            <a:off x="524866" y="3950208"/>
            <a:ext cx="2377440" cy="731520"/>
          </a:xfrm>
          <a:prstGeom prst="rect">
            <a:avLst/>
          </a:prstGeom>
          <a:solidFill>
            <a:srgbClr val="10253F"/>
          </a:solidFill>
          <a:ln/>
        </p:spPr>
        <p:txBody>
          <a:bodyPr/>
          <a:lstStyle/>
          <a:p>
            <a:endParaRPr lang="ko-KR" altLang="en-US"/>
          </a:p>
        </p:txBody>
      </p:sp>
      <p:sp>
        <p:nvSpPr>
          <p:cNvPr id="14" name="Text 12"/>
          <p:cNvSpPr txBox="1"/>
          <p:nvPr/>
        </p:nvSpPr>
        <p:spPr>
          <a:xfrm>
            <a:off x="524866" y="3950208"/>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탐지</a:t>
            </a:r>
            <a:endParaRPr lang="en-US" sz="1600" dirty="0"/>
          </a:p>
        </p:txBody>
      </p:sp>
      <p:sp>
        <p:nvSpPr>
          <p:cNvPr id="15" name="Text 13"/>
          <p:cNvSpPr txBox="1"/>
          <p:nvPr/>
        </p:nvSpPr>
        <p:spPr>
          <a:xfrm>
            <a:off x="2902306" y="3950208"/>
            <a:ext cx="429768" cy="731520"/>
          </a:xfrm>
          <a:prstGeom prst="rect">
            <a:avLst/>
          </a:prstGeom>
          <a:noFill/>
          <a:ln/>
        </p:spPr>
        <p:txBody>
          <a:bodyPr wrap="square" lIns="0" tIns="0" rIns="0" bIns="0" rtlCol="0" anchor="ctr"/>
          <a:lstStyle/>
          <a:p>
            <a:pPr marL="0" indent="0" algn="ctr">
              <a:buNone/>
            </a:pPr>
            <a:r>
              <a:rPr lang="en-US" sz="1200" dirty="0">
                <a:solidFill>
                  <a:srgbClr val="BFBFBF"/>
                </a:solidFill>
                <a:latin typeface="맑은 고딕" pitchFamily="34" charset="0"/>
                <a:ea typeface="맑은 고딕" pitchFamily="34" charset="-122"/>
                <a:cs typeface="맑은 고딕" pitchFamily="34" charset="-120"/>
              </a:rPr>
              <a:t>▶</a:t>
            </a:r>
            <a:endParaRPr lang="en-US" sz="1200" dirty="0"/>
          </a:p>
        </p:txBody>
      </p:sp>
      <p:sp>
        <p:nvSpPr>
          <p:cNvPr id="16" name="Shape 14"/>
          <p:cNvSpPr/>
          <p:nvPr/>
        </p:nvSpPr>
        <p:spPr>
          <a:xfrm>
            <a:off x="3332074" y="3950208"/>
            <a:ext cx="2377440" cy="731520"/>
          </a:xfrm>
          <a:prstGeom prst="rect">
            <a:avLst/>
          </a:prstGeom>
          <a:solidFill>
            <a:srgbClr val="10253F"/>
          </a:solidFill>
          <a:ln/>
        </p:spPr>
        <p:txBody>
          <a:bodyPr/>
          <a:lstStyle/>
          <a:p>
            <a:endParaRPr lang="ko-KR" altLang="en-US"/>
          </a:p>
        </p:txBody>
      </p:sp>
      <p:sp>
        <p:nvSpPr>
          <p:cNvPr id="17" name="Text 15"/>
          <p:cNvSpPr txBox="1"/>
          <p:nvPr/>
        </p:nvSpPr>
        <p:spPr>
          <a:xfrm>
            <a:off x="3332074" y="3950208"/>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추적</a:t>
            </a:r>
            <a:endParaRPr lang="en-US" sz="1600" dirty="0"/>
          </a:p>
        </p:txBody>
      </p:sp>
      <p:sp>
        <p:nvSpPr>
          <p:cNvPr id="18" name="Text 16"/>
          <p:cNvSpPr txBox="1"/>
          <p:nvPr/>
        </p:nvSpPr>
        <p:spPr>
          <a:xfrm>
            <a:off x="5709514" y="3950208"/>
            <a:ext cx="429768" cy="731520"/>
          </a:xfrm>
          <a:prstGeom prst="rect">
            <a:avLst/>
          </a:prstGeom>
          <a:noFill/>
          <a:ln/>
        </p:spPr>
        <p:txBody>
          <a:bodyPr wrap="square" lIns="0" tIns="0" rIns="0" bIns="0" rtlCol="0" anchor="ctr"/>
          <a:lstStyle/>
          <a:p>
            <a:pPr marL="0" indent="0" algn="ctr">
              <a:buNone/>
            </a:pPr>
            <a:r>
              <a:rPr lang="en-US" sz="1200" dirty="0">
                <a:solidFill>
                  <a:srgbClr val="BFBFBF"/>
                </a:solidFill>
                <a:latin typeface="맑은 고딕" pitchFamily="34" charset="0"/>
                <a:ea typeface="맑은 고딕" pitchFamily="34" charset="-122"/>
                <a:cs typeface="맑은 고딕" pitchFamily="34" charset="-120"/>
              </a:rPr>
              <a:t>▶</a:t>
            </a:r>
            <a:endParaRPr lang="en-US" sz="1200" dirty="0"/>
          </a:p>
        </p:txBody>
      </p:sp>
      <p:sp>
        <p:nvSpPr>
          <p:cNvPr id="19" name="Shape 17"/>
          <p:cNvSpPr/>
          <p:nvPr/>
        </p:nvSpPr>
        <p:spPr>
          <a:xfrm>
            <a:off x="6139282" y="3950208"/>
            <a:ext cx="2377440" cy="731520"/>
          </a:xfrm>
          <a:prstGeom prst="rect">
            <a:avLst/>
          </a:prstGeom>
          <a:solidFill>
            <a:srgbClr val="10253F"/>
          </a:solidFill>
          <a:ln/>
        </p:spPr>
        <p:txBody>
          <a:bodyPr/>
          <a:lstStyle/>
          <a:p>
            <a:endParaRPr lang="ko-KR" altLang="en-US"/>
          </a:p>
        </p:txBody>
      </p:sp>
      <p:sp>
        <p:nvSpPr>
          <p:cNvPr id="20" name="Text 18"/>
          <p:cNvSpPr txBox="1"/>
          <p:nvPr/>
        </p:nvSpPr>
        <p:spPr>
          <a:xfrm>
            <a:off x="6139282" y="3950208"/>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식별</a:t>
            </a:r>
            <a:endParaRPr lang="en-US" sz="1600" dirty="0"/>
          </a:p>
        </p:txBody>
      </p:sp>
      <p:sp>
        <p:nvSpPr>
          <p:cNvPr id="21" name="Text 19"/>
          <p:cNvSpPr txBox="1"/>
          <p:nvPr/>
        </p:nvSpPr>
        <p:spPr>
          <a:xfrm>
            <a:off x="8516722" y="3950208"/>
            <a:ext cx="429768" cy="731520"/>
          </a:xfrm>
          <a:prstGeom prst="rect">
            <a:avLst/>
          </a:prstGeom>
          <a:noFill/>
          <a:ln/>
        </p:spPr>
        <p:txBody>
          <a:bodyPr wrap="square" lIns="0" tIns="0" rIns="0" bIns="0" rtlCol="0" anchor="ctr"/>
          <a:lstStyle/>
          <a:p>
            <a:pPr marL="0" indent="0" algn="ctr">
              <a:buNone/>
            </a:pPr>
            <a:r>
              <a:rPr lang="en-US" sz="1200" dirty="0">
                <a:solidFill>
                  <a:srgbClr val="BFBFBF"/>
                </a:solidFill>
                <a:latin typeface="맑은 고딕" pitchFamily="34" charset="0"/>
                <a:ea typeface="맑은 고딕" pitchFamily="34" charset="-122"/>
                <a:cs typeface="맑은 고딕" pitchFamily="34" charset="-120"/>
              </a:rPr>
              <a:t>▶</a:t>
            </a:r>
            <a:endParaRPr lang="en-US" sz="1200" dirty="0"/>
          </a:p>
        </p:txBody>
      </p:sp>
      <p:sp>
        <p:nvSpPr>
          <p:cNvPr id="22" name="Shape 20"/>
          <p:cNvSpPr/>
          <p:nvPr/>
        </p:nvSpPr>
        <p:spPr>
          <a:xfrm>
            <a:off x="8946490" y="3950208"/>
            <a:ext cx="2377440" cy="731520"/>
          </a:xfrm>
          <a:prstGeom prst="rect">
            <a:avLst/>
          </a:prstGeom>
          <a:solidFill>
            <a:srgbClr val="10253F"/>
          </a:solidFill>
          <a:ln/>
        </p:spPr>
        <p:txBody>
          <a:bodyPr/>
          <a:lstStyle/>
          <a:p>
            <a:endParaRPr lang="ko-KR" altLang="en-US"/>
          </a:p>
        </p:txBody>
      </p:sp>
      <p:sp>
        <p:nvSpPr>
          <p:cNvPr id="23" name="Text 21"/>
          <p:cNvSpPr txBox="1"/>
          <p:nvPr/>
        </p:nvSpPr>
        <p:spPr>
          <a:xfrm>
            <a:off x="8946490" y="3950208"/>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대응 결심</a:t>
            </a:r>
            <a:endParaRPr lang="en-US" sz="1600" dirty="0"/>
          </a:p>
        </p:txBody>
      </p:sp>
      <p:sp>
        <p:nvSpPr>
          <p:cNvPr id="24" name="Text 22"/>
          <p:cNvSpPr txBox="1"/>
          <p:nvPr/>
        </p:nvSpPr>
        <p:spPr>
          <a:xfrm>
            <a:off x="829361" y="5047488"/>
            <a:ext cx="10874959" cy="9144"/>
          </a:xfrm>
          <a:prstGeom prst="rect">
            <a:avLst/>
          </a:prstGeom>
          <a:noFill/>
          <a:ln/>
        </p:spPr>
        <p:txBody>
          <a:bodyPr wrap="square" lIns="0" tIns="0" rIns="0" bIns="0" rtlCol="0" anchor="t"/>
          <a:lstStyle/>
          <a:p>
            <a:pPr marL="342900" indent="-342900">
              <a:spcAft>
                <a:spcPts val="864"/>
              </a:spcAft>
              <a:buSzPct val="100000"/>
              <a:buChar char="•"/>
            </a:pPr>
            <a:r>
              <a:rPr lang="en-US" sz="1350" dirty="0">
                <a:solidFill>
                  <a:srgbClr val="000000"/>
                </a:solidFill>
                <a:latin typeface="맑은 고딕" pitchFamily="34" charset="0"/>
                <a:ea typeface="맑은 고딕" pitchFamily="34" charset="-122"/>
                <a:cs typeface="맑은 고딕" pitchFamily="34" charset="-120"/>
              </a:rPr>
              <a:t>소형 무인기 · 풍선 도발에 따른 수도권 영공의 저강도 회색지대(Gray-zone) 도발 공간화</a:t>
            </a:r>
            <a:endParaRPr lang="en-US" sz="1350" dirty="0"/>
          </a:p>
          <a:p>
            <a:pPr marL="342900" indent="-342900">
              <a:spcAft>
                <a:spcPts val="864"/>
              </a:spcAft>
              <a:buSzPct val="100000"/>
              <a:buChar char="•"/>
            </a:pPr>
            <a:r>
              <a:rPr lang="en-US" sz="1350" dirty="0">
                <a:solidFill>
                  <a:srgbClr val="000000"/>
                </a:solidFill>
                <a:latin typeface="맑은 고딕" pitchFamily="34" charset="0"/>
                <a:ea typeface="맑은 고딕" pitchFamily="34" charset="-122"/>
                <a:cs typeface="맑은 고딕" pitchFamily="34" charset="-120"/>
              </a:rPr>
              <a:t>인구 밀집 도심 상공의 저고도 소형 비행체에 대한 탐지부터 대응 결심까지의 의사결정 체계 필요</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03.</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작은 비행체의 기존 탐지 · 대응 한계</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저고도 · 저속 · 저신호(LSS) 비행체에 대한 센서별 제약과 도심 대응 수단의 제한</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24866" y="2340864"/>
          <a:ext cx="7370064" cy="1511300"/>
        </p:xfrm>
        <a:graphic>
          <a:graphicData uri="http://schemas.openxmlformats.org/drawingml/2006/table">
            <a:tbl>
              <a:tblPr/>
              <a:tblGrid>
                <a:gridCol w="1700784">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0">
                <a:tc>
                  <a:txBody>
                    <a:bodyPr/>
                    <a:lstStyle/>
                    <a:p>
                      <a:pPr marL="0" indent="0" algn="l">
                        <a:buNone/>
                      </a:pPr>
                      <a:r>
                        <a:rPr lang="en-US" sz="1150" b="1" dirty="0">
                          <a:solidFill>
                            <a:srgbClr val="000000"/>
                          </a:solidFill>
                          <a:latin typeface="맑은 고딕" pitchFamily="34" charset="0"/>
                          <a:ea typeface="맑은 고딕" pitchFamily="34" charset="-122"/>
                          <a:cs typeface="맑은 고딕" pitchFamily="34" charset="-120"/>
                        </a:rPr>
                        <a:t>센서</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indent="0" algn="l">
                        <a:buNone/>
                      </a:pPr>
                      <a:r>
                        <a:rPr lang="en-US" sz="1150" b="1" dirty="0">
                          <a:solidFill>
                            <a:srgbClr val="000000"/>
                          </a:solidFill>
                          <a:latin typeface="맑은 고딕" pitchFamily="34" charset="0"/>
                          <a:ea typeface="맑은 고딕" pitchFamily="34" charset="-122"/>
                          <a:cs typeface="맑은 고딕" pitchFamily="34" charset="-120"/>
                        </a:rPr>
                        <a:t>도심에서의 한계</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레이더</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빌딩 반사에 따른 다중 경로 · 소형 쿼드와 새의 구분 곤란으로 오경보 다발</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RF 수신</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전파 미방출 비행체 탐지 불가 — 자율비행 드론 · 광섬유 드론 · 풍선</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카메라 (EO / IR)</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빌딩 차폐 구간에서 시야 확보 불가</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음향</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150" dirty="0">
                          <a:solidFill>
                            <a:srgbClr val="000000"/>
                          </a:solidFill>
                          <a:latin typeface="맑은 고딕" pitchFamily="34" charset="0"/>
                          <a:ea typeface="맑은 고딕" pitchFamily="34" charset="-122"/>
                          <a:cs typeface="맑은 고딕" pitchFamily="34" charset="-120"/>
                        </a:rPr>
                        <a:t>소형 쿼드 300~500 m · 풍속 5 m/s 이상에서 성능 저하 (업체 수치)</a:t>
                      </a:r>
                      <a:endParaRPr lang="en-US" sz="1150" dirty="0">
                        <a:latin typeface="맑은 고딕" charset="0"/>
                        <a:ea typeface="맑은 고딕" charset="0"/>
                        <a:cs typeface="맑은 고딕" charset="0"/>
                      </a:endParaRPr>
                    </a:p>
                  </a:txBody>
                  <a:tcPr marL="88900" marR="88900" marT="63500" marB="635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txBox="1"/>
          <p:nvPr/>
        </p:nvSpPr>
        <p:spPr>
          <a:xfrm>
            <a:off x="524866" y="4297680"/>
            <a:ext cx="7370064" cy="274320"/>
          </a:xfrm>
          <a:prstGeom prst="rect">
            <a:avLst/>
          </a:prstGeom>
          <a:noFill/>
          <a:ln/>
        </p:spPr>
        <p:txBody>
          <a:bodyPr wrap="square" lIns="0" tIns="0" rIns="0" bIns="0" rtlCol="0" anchor="ctr"/>
          <a:lstStyle/>
          <a:p>
            <a:pPr marL="0" indent="0">
              <a:buNone/>
            </a:pPr>
            <a:r>
              <a:rPr lang="en-US" sz="1200" b="1" dirty="0">
                <a:solidFill>
                  <a:srgbClr val="77933C"/>
                </a:solidFill>
                <a:latin typeface="맑은 고딕" pitchFamily="34" charset="0"/>
                <a:ea typeface="맑은 고딕" pitchFamily="34" charset="-122"/>
                <a:cs typeface="맑은 고딕" pitchFamily="34" charset="-120"/>
              </a:rPr>
              <a:t>한 가지 센서로는 불가 — 다중 센서 융합이 표준</a:t>
            </a:r>
            <a:endParaRPr lang="en-US" sz="1200" dirty="0"/>
          </a:p>
        </p:txBody>
      </p:sp>
      <p:sp>
        <p:nvSpPr>
          <p:cNvPr id="12" name="Text 9"/>
          <p:cNvSpPr txBox="1"/>
          <p:nvPr/>
        </p:nvSpPr>
        <p:spPr>
          <a:xfrm>
            <a:off x="524866" y="4718304"/>
            <a:ext cx="11179454" cy="274320"/>
          </a:xfrm>
          <a:prstGeom prst="rect">
            <a:avLst/>
          </a:prstGeom>
          <a:noFill/>
          <a:ln/>
        </p:spPr>
        <p:txBody>
          <a:bodyPr wrap="square" lIns="0" tIns="0" rIns="0" bIns="0" rtlCol="0" anchor="ctr"/>
          <a:lstStyle/>
          <a:p>
            <a:pPr marL="0" indent="0">
              <a:buNone/>
            </a:pPr>
            <a:r>
              <a:rPr lang="en-US" sz="1600" b="1" dirty="0">
                <a:solidFill>
                  <a:srgbClr val="000000"/>
                </a:solidFill>
                <a:latin typeface="맑은 고딕" pitchFamily="34" charset="0"/>
                <a:ea typeface="맑은 고딕" pitchFamily="34" charset="-122"/>
                <a:cs typeface="맑은 고딕" pitchFamily="34" charset="-120"/>
              </a:rPr>
              <a:t>한국 실제 사례</a:t>
            </a:r>
            <a:endParaRPr lang="en-US" sz="1600" dirty="0"/>
          </a:p>
        </p:txBody>
      </p:sp>
      <p:sp>
        <p:nvSpPr>
          <p:cNvPr id="13" name="Shape 10"/>
          <p:cNvSpPr/>
          <p:nvPr/>
        </p:nvSpPr>
        <p:spPr>
          <a:xfrm>
            <a:off x="524866" y="5047488"/>
            <a:ext cx="3584448" cy="1024128"/>
          </a:xfrm>
          <a:prstGeom prst="rect">
            <a:avLst/>
          </a:prstGeom>
          <a:solidFill>
            <a:srgbClr val="F4F4F4"/>
          </a:solidFill>
          <a:ln/>
        </p:spPr>
        <p:txBody>
          <a:bodyPr/>
          <a:lstStyle/>
          <a:p>
            <a:endParaRPr lang="ko-KR" altLang="en-US"/>
          </a:p>
        </p:txBody>
      </p:sp>
      <p:sp>
        <p:nvSpPr>
          <p:cNvPr id="14" name="Shape 11"/>
          <p:cNvSpPr/>
          <p:nvPr/>
        </p:nvSpPr>
        <p:spPr>
          <a:xfrm>
            <a:off x="524866" y="5047488"/>
            <a:ext cx="45720" cy="1024128"/>
          </a:xfrm>
          <a:prstGeom prst="rect">
            <a:avLst/>
          </a:prstGeom>
          <a:solidFill>
            <a:srgbClr val="10253F"/>
          </a:solidFill>
          <a:ln/>
        </p:spPr>
        <p:txBody>
          <a:bodyPr/>
          <a:lstStyle/>
          <a:p>
            <a:endParaRPr lang="ko-KR" altLang="en-US"/>
          </a:p>
        </p:txBody>
      </p:sp>
      <p:sp>
        <p:nvSpPr>
          <p:cNvPr id="15" name="Text 12"/>
          <p:cNvSpPr txBox="1"/>
          <p:nvPr/>
        </p:nvSpPr>
        <p:spPr>
          <a:xfrm>
            <a:off x="726034" y="5047488"/>
            <a:ext cx="3200400" cy="1024128"/>
          </a:xfrm>
          <a:prstGeom prst="rect">
            <a:avLst/>
          </a:prstGeom>
          <a:noFill/>
          <a:ln/>
        </p:spPr>
        <p:txBody>
          <a:bodyPr wrap="square" lIns="0" tIns="0" rIns="0" bIns="0" rtlCol="0" anchor="ctr"/>
          <a:lstStyle/>
          <a:p>
            <a:pPr marL="0" indent="0">
              <a:lnSpc>
                <a:spcPct val="122000"/>
              </a:lnSpc>
              <a:buNone/>
            </a:pPr>
            <a:r>
              <a:rPr lang="en-US" sz="1200" b="1" dirty="0">
                <a:solidFill>
                  <a:srgbClr val="000000"/>
                </a:solidFill>
                <a:latin typeface="맑은 고딕" pitchFamily="34" charset="0"/>
                <a:ea typeface="맑은 고딕" pitchFamily="34" charset="-122"/>
                <a:cs typeface="맑은 고딕" pitchFamily="34" charset="-120"/>
              </a:rPr>
              <a:t>북한 오물풍선 (2024)
</a:t>
            </a:r>
            <a:r>
              <a:rPr lang="en-US" sz="1050" dirty="0">
                <a:solidFill>
                  <a:srgbClr val="595959"/>
                </a:solidFill>
                <a:latin typeface="맑은 고딕" pitchFamily="34" charset="0"/>
                <a:ea typeface="맑은 고딕" pitchFamily="34" charset="-122"/>
                <a:cs typeface="맑은 고딕" pitchFamily="34" charset="-120"/>
              </a:rPr>
              <a:t>격추 대신 ‘낙하 후 수거’ 원칙 — 공중 격추 시 위해 물질 확산 우려</a:t>
            </a:r>
            <a:endParaRPr lang="en-US" sz="1200" dirty="0"/>
          </a:p>
          <a:p>
            <a:pPr marL="0" indent="0">
              <a:lnSpc>
                <a:spcPct val="122000"/>
              </a:lnSpc>
              <a:buNone/>
            </a:pPr>
            <a:r>
              <a:rPr lang="en-US" sz="1050" dirty="0">
                <a:solidFill>
                  <a:srgbClr val="595959"/>
                </a:solidFill>
                <a:latin typeface="맑은 고딕" pitchFamily="34" charset="0"/>
                <a:ea typeface="맑은 고딕" pitchFamily="34" charset="-122"/>
                <a:cs typeface="맑은 고딕" pitchFamily="34" charset="-120"/>
              </a:rPr>
              <a:t>22차례 · 낙하물 5,462개 · 피해 78건</a:t>
            </a:r>
            <a:endParaRPr lang="en-US" sz="1200" dirty="0"/>
          </a:p>
        </p:txBody>
      </p:sp>
      <p:sp>
        <p:nvSpPr>
          <p:cNvPr id="16" name="Shape 13"/>
          <p:cNvSpPr/>
          <p:nvPr/>
        </p:nvSpPr>
        <p:spPr>
          <a:xfrm>
            <a:off x="4310482" y="5047488"/>
            <a:ext cx="3584448" cy="1024128"/>
          </a:xfrm>
          <a:prstGeom prst="rect">
            <a:avLst/>
          </a:prstGeom>
          <a:solidFill>
            <a:srgbClr val="F4F4F4"/>
          </a:solidFill>
          <a:ln/>
        </p:spPr>
        <p:txBody>
          <a:bodyPr/>
          <a:lstStyle/>
          <a:p>
            <a:endParaRPr lang="ko-KR" altLang="en-US"/>
          </a:p>
        </p:txBody>
      </p:sp>
      <p:sp>
        <p:nvSpPr>
          <p:cNvPr id="17" name="Shape 14"/>
          <p:cNvSpPr/>
          <p:nvPr/>
        </p:nvSpPr>
        <p:spPr>
          <a:xfrm>
            <a:off x="4310482" y="5047488"/>
            <a:ext cx="45720" cy="1024128"/>
          </a:xfrm>
          <a:prstGeom prst="rect">
            <a:avLst/>
          </a:prstGeom>
          <a:solidFill>
            <a:srgbClr val="10253F"/>
          </a:solidFill>
          <a:ln/>
        </p:spPr>
        <p:txBody>
          <a:bodyPr/>
          <a:lstStyle/>
          <a:p>
            <a:endParaRPr lang="ko-KR" altLang="en-US"/>
          </a:p>
        </p:txBody>
      </p:sp>
      <p:sp>
        <p:nvSpPr>
          <p:cNvPr id="18" name="Text 15"/>
          <p:cNvSpPr txBox="1"/>
          <p:nvPr/>
        </p:nvSpPr>
        <p:spPr>
          <a:xfrm>
            <a:off x="4511650" y="5047488"/>
            <a:ext cx="3200400" cy="1024128"/>
          </a:xfrm>
          <a:prstGeom prst="rect">
            <a:avLst/>
          </a:prstGeom>
          <a:noFill/>
          <a:ln/>
        </p:spPr>
        <p:txBody>
          <a:bodyPr wrap="square" lIns="0" tIns="0" rIns="0" bIns="0" rtlCol="0" anchor="ctr"/>
          <a:lstStyle/>
          <a:p>
            <a:pPr marL="0" indent="0">
              <a:lnSpc>
                <a:spcPct val="122000"/>
              </a:lnSpc>
              <a:buNone/>
            </a:pPr>
            <a:r>
              <a:rPr lang="en-US" sz="1200" b="1" dirty="0">
                <a:solidFill>
                  <a:srgbClr val="000000"/>
                </a:solidFill>
                <a:latin typeface="맑은 고딕" pitchFamily="34" charset="0"/>
                <a:ea typeface="맑은 고딕" pitchFamily="34" charset="-122"/>
                <a:cs typeface="맑은 고딕" pitchFamily="34" charset="-120"/>
              </a:rPr>
              <a:t>북한 소형 무인기 서울 침투 (2022.12)
</a:t>
            </a:r>
            <a:r>
              <a:rPr lang="en-US" sz="1050" dirty="0">
                <a:solidFill>
                  <a:srgbClr val="595959"/>
                </a:solidFill>
                <a:latin typeface="맑은 고딕" pitchFamily="34" charset="0"/>
                <a:ea typeface="맑은 고딕" pitchFamily="34" charset="-122"/>
                <a:cs typeface="맑은 고딕" pitchFamily="34" charset="-120"/>
              </a:rPr>
              <a:t>5대 침투 · 1대는 서울 북부 상공까지 진입 · 격추 실패</a:t>
            </a:r>
            <a:endParaRPr lang="en-US" sz="1200" dirty="0"/>
          </a:p>
          <a:p>
            <a:pPr marL="0" indent="0">
              <a:lnSpc>
                <a:spcPct val="122000"/>
              </a:lnSpc>
              <a:buNone/>
            </a:pPr>
            <a:r>
              <a:rPr lang="en-US" sz="1050" dirty="0">
                <a:solidFill>
                  <a:srgbClr val="595959"/>
                </a:solidFill>
                <a:latin typeface="맑은 고딕" pitchFamily="34" charset="0"/>
                <a:ea typeface="맑은 고딕" pitchFamily="34" charset="-122"/>
                <a:cs typeface="맑은 고딕" pitchFamily="34" charset="-120"/>
              </a:rPr>
              <a:t>도심 상공 사격의 어려움이 쟁점화</a:t>
            </a:r>
            <a:endParaRPr lang="en-US" sz="1200" dirty="0"/>
          </a:p>
        </p:txBody>
      </p:sp>
      <p:pic>
        <p:nvPicPr>
          <p:cNvPr id="19" name="Image 0" descr="/tmp/claude-0/-home-claude/b1200c36-f821-5d38-9354-3ed6e3ae1f6e/scratchpad/a2/map.png"/>
          <p:cNvPicPr>
            <a:picLocks noChangeAspect="1"/>
          </p:cNvPicPr>
          <p:nvPr/>
        </p:nvPicPr>
        <p:blipFill>
          <a:blip r:embed="rId3"/>
          <a:stretch>
            <a:fillRect/>
          </a:stretch>
        </p:blipFill>
        <p:spPr>
          <a:xfrm>
            <a:off x="8193024" y="2304288"/>
            <a:ext cx="2596896" cy="3621024"/>
          </a:xfrm>
          <a:prstGeom prst="rect">
            <a:avLst/>
          </a:prstGeom>
        </p:spPr>
      </p:pic>
      <p:sp>
        <p:nvSpPr>
          <p:cNvPr id="20" name="Text 16"/>
          <p:cNvSpPr txBox="1"/>
          <p:nvPr/>
        </p:nvSpPr>
        <p:spPr>
          <a:xfrm>
            <a:off x="7680960" y="5961888"/>
            <a:ext cx="3621024" cy="228600"/>
          </a:xfrm>
          <a:prstGeom prst="rect">
            <a:avLst/>
          </a:prstGeom>
          <a:noFill/>
          <a:ln/>
        </p:spPr>
        <p:txBody>
          <a:bodyPr wrap="square" lIns="0" tIns="0" rIns="0" bIns="0" rtlCol="0" anchor="ctr"/>
          <a:lstStyle/>
          <a:p>
            <a:pPr marL="0" indent="0" algn="ctr">
              <a:buNone/>
            </a:pPr>
            <a:r>
              <a:rPr lang="en-US" sz="1050" dirty="0">
                <a:solidFill>
                  <a:srgbClr val="595959"/>
                </a:solidFill>
                <a:latin typeface="맑은 고딕" pitchFamily="34" charset="0"/>
                <a:ea typeface="맑은 고딕" pitchFamily="34" charset="-122"/>
                <a:cs typeface="맑은 고딕" pitchFamily="34" charset="-120"/>
              </a:rPr>
              <a:t>북한 무인기 용산 상공 침투 경로</a:t>
            </a:r>
            <a:endParaRPr lang="en-US" sz="1050" dirty="0"/>
          </a:p>
        </p:txBody>
      </p:sp>
      <p:sp>
        <p:nvSpPr>
          <p:cNvPr id="21" name="Text 17"/>
          <p:cNvSpPr txBox="1"/>
          <p:nvPr/>
        </p:nvSpPr>
        <p:spPr>
          <a:xfrm>
            <a:off x="524866" y="6254496"/>
            <a:ext cx="7370064" cy="219456"/>
          </a:xfrm>
          <a:prstGeom prst="rect">
            <a:avLst/>
          </a:prstGeom>
          <a:noFill/>
          <a:ln/>
        </p:spPr>
        <p:txBody>
          <a:bodyPr wrap="square" lIns="0" tIns="0" rIns="0" bIns="0" rtlCol="0" anchor="ctr"/>
          <a:lstStyle/>
          <a:p>
            <a:pPr marL="0" indent="0">
              <a:buNone/>
            </a:pPr>
            <a:r>
              <a:rPr lang="en-US" sz="850" dirty="0">
                <a:solidFill>
                  <a:srgbClr val="8A8A8A"/>
                </a:solidFill>
                <a:latin typeface="맑은 고딕" pitchFamily="34" charset="0"/>
                <a:ea typeface="맑은 고딕" pitchFamily="34" charset="-122"/>
                <a:cs typeface="맑은 고딕" pitchFamily="34" charset="-120"/>
              </a:rPr>
              <a:t>출처 : 경기일보 2024.10.09 · 연합뉴스 AKR20221227025651504 · UK MoD, Canada DND C-UAS(Urban) Sandbox 2027 · D-Fend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04.</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프로토타입 기체와 AI 기반 플라이트 컨트롤러</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수집 → 결정 → 실행 · 로그의 단계별 처리 구조</a:t>
            </a:r>
            <a:endParaRPr lang="en-US" sz="1300" dirty="0"/>
          </a:p>
        </p:txBody>
      </p:sp>
      <p:pic>
        <p:nvPicPr>
          <p:cNvPr id="14" name="그림 13">
            <a:extLst>
              <a:ext uri="{FF2B5EF4-FFF2-40B4-BE49-F238E27FC236}">
                <a16:creationId xmlns:a16="http://schemas.microsoft.com/office/drawing/2014/main" id="{6FB81492-A3BB-793B-1E5B-671B997DAEF6}"/>
              </a:ext>
            </a:extLst>
          </p:cNvPr>
          <p:cNvPicPr>
            <a:picLocks noChangeAspect="1"/>
          </p:cNvPicPr>
          <p:nvPr/>
        </p:nvPicPr>
        <p:blipFill>
          <a:blip r:embed="rId3"/>
          <a:stretch>
            <a:fillRect/>
          </a:stretch>
        </p:blipFill>
        <p:spPr>
          <a:xfrm>
            <a:off x="17280" y="0"/>
            <a:ext cx="12174719" cy="67287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05.</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FC 직접 설계 · 제작</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기체 탑재 비행 컨트롤러의 자체 설계 · 현재 회로 설계 단계</a:t>
            </a:r>
            <a:endParaRPr lang="en-US" sz="1300" dirty="0"/>
          </a:p>
        </p:txBody>
      </p:sp>
      <p:pic>
        <p:nvPicPr>
          <p:cNvPr id="10" name="Image 0" descr="/tmp/claude-0/-home-claude/b1200c36-f821-5d38-9354-3ed6e3ae1f6e/scratchpad/a2/fc_main.png"/>
          <p:cNvPicPr>
            <a:picLocks noChangeAspect="1"/>
          </p:cNvPicPr>
          <p:nvPr/>
        </p:nvPicPr>
        <p:blipFill>
          <a:blip r:embed="rId3"/>
          <a:stretch>
            <a:fillRect/>
          </a:stretch>
        </p:blipFill>
        <p:spPr>
          <a:xfrm>
            <a:off x="524866" y="2304288"/>
            <a:ext cx="6400800" cy="4242816"/>
          </a:xfrm>
          <a:prstGeom prst="rect">
            <a:avLst/>
          </a:prstGeom>
        </p:spPr>
      </p:pic>
      <p:pic>
        <p:nvPicPr>
          <p:cNvPr id="11" name="Image 1" descr="/tmp/claude-0/-home-claude/b1200c36-f821-5d38-9354-3ed6e3ae1f6e/scratchpad/a2/fc_osd.png"/>
          <p:cNvPicPr>
            <a:picLocks noChangeAspect="1"/>
          </p:cNvPicPr>
          <p:nvPr/>
        </p:nvPicPr>
        <p:blipFill>
          <a:blip r:embed="rId4"/>
          <a:stretch>
            <a:fillRect/>
          </a:stretch>
        </p:blipFill>
        <p:spPr>
          <a:xfrm>
            <a:off x="7168896" y="2304288"/>
            <a:ext cx="2157984" cy="1389888"/>
          </a:xfrm>
          <a:prstGeom prst="rect">
            <a:avLst/>
          </a:prstGeom>
        </p:spPr>
      </p:pic>
      <p:pic>
        <p:nvPicPr>
          <p:cNvPr id="12" name="Image 2" descr="/tmp/claude-0/-home-claude/b1200c36-f821-5d38-9354-3ed6e3ae1f6e/scratchpad/a2/fc_power.png"/>
          <p:cNvPicPr>
            <a:picLocks noChangeAspect="1"/>
          </p:cNvPicPr>
          <p:nvPr/>
        </p:nvPicPr>
        <p:blipFill>
          <a:blip r:embed="rId5"/>
          <a:stretch>
            <a:fillRect/>
          </a:stretch>
        </p:blipFill>
        <p:spPr>
          <a:xfrm>
            <a:off x="9546336" y="2304288"/>
            <a:ext cx="2157984" cy="1426464"/>
          </a:xfrm>
          <a:prstGeom prst="rect">
            <a:avLst/>
          </a:prstGeom>
        </p:spPr>
      </p:pic>
      <p:sp>
        <p:nvSpPr>
          <p:cNvPr id="13" name="Text 8"/>
          <p:cNvSpPr txBox="1"/>
          <p:nvPr/>
        </p:nvSpPr>
        <p:spPr>
          <a:xfrm>
            <a:off x="7168896" y="3767328"/>
            <a:ext cx="2157984" cy="228600"/>
          </a:xfrm>
          <a:prstGeom prst="rect">
            <a:avLst/>
          </a:prstGeom>
          <a:noFill/>
          <a:ln/>
        </p:spPr>
        <p:txBody>
          <a:bodyPr wrap="square" lIns="0" tIns="0" rIns="0" bIns="0" rtlCol="0" anchor="ctr"/>
          <a:lstStyle/>
          <a:p>
            <a:pPr marL="0" indent="0" algn="ctr">
              <a:buNone/>
            </a:pPr>
            <a:r>
              <a:rPr lang="en-US" sz="1050" dirty="0">
                <a:solidFill>
                  <a:srgbClr val="595959"/>
                </a:solidFill>
                <a:latin typeface="맑은 고딕" pitchFamily="34" charset="0"/>
                <a:ea typeface="맑은 고딕" pitchFamily="34" charset="-122"/>
                <a:cs typeface="맑은 고딕" pitchFamily="34" charset="-120"/>
              </a:rPr>
              <a:t>OSD (AT7456E)</a:t>
            </a:r>
            <a:endParaRPr lang="en-US" sz="1050" dirty="0"/>
          </a:p>
        </p:txBody>
      </p:sp>
      <p:sp>
        <p:nvSpPr>
          <p:cNvPr id="14" name="Text 9"/>
          <p:cNvSpPr txBox="1"/>
          <p:nvPr/>
        </p:nvSpPr>
        <p:spPr>
          <a:xfrm>
            <a:off x="9546336" y="3767328"/>
            <a:ext cx="2157984" cy="228600"/>
          </a:xfrm>
          <a:prstGeom prst="rect">
            <a:avLst/>
          </a:prstGeom>
          <a:noFill/>
          <a:ln/>
        </p:spPr>
        <p:txBody>
          <a:bodyPr wrap="square" lIns="0" tIns="0" rIns="0" bIns="0" rtlCol="0" anchor="ctr"/>
          <a:lstStyle/>
          <a:p>
            <a:pPr marL="0" indent="0" algn="ctr">
              <a:buNone/>
            </a:pPr>
            <a:r>
              <a:rPr lang="en-US" sz="1050" dirty="0">
                <a:solidFill>
                  <a:srgbClr val="595959"/>
                </a:solidFill>
                <a:latin typeface="맑은 고딕" pitchFamily="34" charset="0"/>
                <a:ea typeface="맑은 고딕" pitchFamily="34" charset="-122"/>
                <a:cs typeface="맑은 고딕" pitchFamily="34" charset="-120"/>
              </a:rPr>
              <a:t>전원 · USB-C</a:t>
            </a:r>
            <a:endParaRPr lang="en-US" sz="1050" dirty="0"/>
          </a:p>
        </p:txBody>
      </p:sp>
      <p:sp>
        <p:nvSpPr>
          <p:cNvPr id="15" name="Text 10"/>
          <p:cNvSpPr txBox="1"/>
          <p:nvPr/>
        </p:nvSpPr>
        <p:spPr>
          <a:xfrm>
            <a:off x="7168896" y="4169664"/>
            <a:ext cx="4535424" cy="274320"/>
          </a:xfrm>
          <a:prstGeom prst="rect">
            <a:avLst/>
          </a:prstGeom>
          <a:noFill/>
          <a:ln/>
        </p:spPr>
        <p:txBody>
          <a:bodyPr wrap="square" lIns="0" tIns="0" rIns="0" bIns="0" rtlCol="0" anchor="ctr"/>
          <a:lstStyle/>
          <a:p>
            <a:pPr marL="0" indent="0">
              <a:buNone/>
            </a:pPr>
            <a:r>
              <a:rPr lang="en-US" sz="1600" b="1" dirty="0">
                <a:solidFill>
                  <a:srgbClr val="000000"/>
                </a:solidFill>
                <a:latin typeface="맑은 고딕" pitchFamily="34" charset="0"/>
                <a:ea typeface="맑은 고딕" pitchFamily="34" charset="-122"/>
                <a:cs typeface="맑은 고딕" pitchFamily="34" charset="-120"/>
              </a:rPr>
              <a:t>FC 주요 구성</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168896" y="4517136"/>
          <a:ext cx="4535424" cy="1884680"/>
        </p:xfrm>
        <a:graphic>
          <a:graphicData uri="http://schemas.openxmlformats.org/drawingml/2006/table">
            <a:tbl>
              <a:tblPr/>
              <a:tblGrid>
                <a:gridCol w="1325880">
                  <a:extLst>
                    <a:ext uri="{9D8B030D-6E8A-4147-A177-3AD203B41FA5}">
                      <a16:colId xmlns:a16="http://schemas.microsoft.com/office/drawing/2014/main" val="20000"/>
                    </a:ext>
                  </a:extLst>
                </a:gridCol>
                <a:gridCol w="3209544">
                  <a:extLst>
                    <a:ext uri="{9D8B030D-6E8A-4147-A177-3AD203B41FA5}">
                      <a16:colId xmlns:a16="http://schemas.microsoft.com/office/drawing/2014/main" val="20001"/>
                    </a:ext>
                  </a:extLst>
                </a:gridCol>
              </a:tblGrid>
              <a:tr h="0">
                <a:tc>
                  <a:txBody>
                    <a:bodyPr/>
                    <a:lstStyle/>
                    <a:p>
                      <a:pPr marL="0" indent="0" algn="l">
                        <a:buNone/>
                      </a:pPr>
                      <a:r>
                        <a:rPr lang="en-US" sz="1100" b="1" dirty="0">
                          <a:solidFill>
                            <a:srgbClr val="000000"/>
                          </a:solidFill>
                          <a:latin typeface="맑은 고딕" pitchFamily="34" charset="0"/>
                          <a:ea typeface="맑은 고딕" pitchFamily="34" charset="-122"/>
                          <a:cs typeface="맑은 고딕" pitchFamily="34" charset="-120"/>
                        </a:rPr>
                        <a:t>항목</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indent="0" algn="l">
                        <a:buNone/>
                      </a:pPr>
                      <a:r>
                        <a:rPr lang="en-US" sz="1100" b="1" dirty="0">
                          <a:solidFill>
                            <a:srgbClr val="000000"/>
                          </a:solidFill>
                          <a:latin typeface="맑은 고딕" pitchFamily="34" charset="0"/>
                          <a:ea typeface="맑은 고딕" pitchFamily="34" charset="-122"/>
                          <a:cs typeface="맑은 고딕" pitchFamily="34" charset="-120"/>
                        </a:rPr>
                        <a:t>부품</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MCU</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0" cap="flat" cmpd="sng" algn="ctr">
                      <a:noFill/>
                    </a:lnB>
                  </a:tcPr>
                </a:tc>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STM32F405RGT6</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자이로</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MPU-6500 (SPI)</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기압계</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BMP280</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OSD</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AT7456E</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전원</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MP1593 벅 + 3.3V LDO ×3</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I/O</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tcPr>
                </a:tc>
                <a:tc>
                  <a:txBody>
                    <a:bodyPr/>
                    <a:lstStyle/>
                    <a:p>
                      <a:pPr marL="0" indent="0" algn="l">
                        <a:buNone/>
                      </a:pPr>
                      <a:r>
                        <a:rPr lang="en-US" sz="1100" dirty="0">
                          <a:solidFill>
                            <a:srgbClr val="000000"/>
                          </a:solidFill>
                          <a:latin typeface="맑은 고딕" pitchFamily="34" charset="0"/>
                          <a:ea typeface="맑은 고딕" pitchFamily="34" charset="-122"/>
                          <a:cs typeface="맑은 고딕" pitchFamily="34" charset="-120"/>
                        </a:rPr>
                        <a:t>USB-C · UART ×3 · 모터 출력 6</a:t>
                      </a:r>
                      <a:endParaRPr lang="en-US" sz="1100" dirty="0">
                        <a:latin typeface="맑은 고딕" charset="0"/>
                        <a:ea typeface="맑은 고딕" charset="0"/>
                        <a:cs typeface="맑은 고딕"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06.</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레이더 대신 드론의 눈 — 실시간 객체 탐지</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드론 카메라 송출 화면의 프레임 단위 객체 판별</a:t>
            </a:r>
            <a:endParaRPr lang="en-US" sz="1300" dirty="0"/>
          </a:p>
        </p:txBody>
      </p:sp>
      <p:pic>
        <p:nvPicPr>
          <p:cNvPr id="10"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24866" y="2240280"/>
            <a:ext cx="6400800" cy="3602736"/>
          </a:xfrm>
          <a:prstGeom prst="rect">
            <a:avLst/>
          </a:prstGeom>
        </p:spPr>
      </p:pic>
      <p:sp>
        <p:nvSpPr>
          <p:cNvPr id="11" name="Text 8"/>
          <p:cNvSpPr txBox="1"/>
          <p:nvPr/>
        </p:nvSpPr>
        <p:spPr>
          <a:xfrm>
            <a:off x="524866" y="5907024"/>
            <a:ext cx="6400800" cy="228600"/>
          </a:xfrm>
          <a:prstGeom prst="rect">
            <a:avLst/>
          </a:prstGeom>
          <a:noFill/>
          <a:ln/>
        </p:spPr>
        <p:txBody>
          <a:bodyPr wrap="square" lIns="0" tIns="0" rIns="0" bIns="0" rtlCol="0" anchor="ctr"/>
          <a:lstStyle/>
          <a:p>
            <a:pPr marL="0" indent="0" algn="ctr">
              <a:buNone/>
            </a:pPr>
            <a:r>
              <a:rPr lang="en-US" sz="1050" dirty="0">
                <a:solidFill>
                  <a:srgbClr val="595959"/>
                </a:solidFill>
                <a:latin typeface="맑은 고딕" pitchFamily="34" charset="0"/>
                <a:ea typeface="맑은 고딕" pitchFamily="34" charset="-122"/>
                <a:cs typeface="맑은 고딕" pitchFamily="34" charset="-120"/>
              </a:rPr>
              <a:t>현장 시연 — 드론 카메라의 화면 속 풍선 · 무인기 즉시 판별</a:t>
            </a:r>
            <a:endParaRPr lang="en-US" sz="1050" dirty="0"/>
          </a:p>
        </p:txBody>
      </p:sp>
      <p:sp>
        <p:nvSpPr>
          <p:cNvPr id="12" name="Shape 9"/>
          <p:cNvSpPr/>
          <p:nvPr/>
        </p:nvSpPr>
        <p:spPr>
          <a:xfrm>
            <a:off x="7269480" y="2350008"/>
            <a:ext cx="384048" cy="384048"/>
          </a:xfrm>
          <a:prstGeom prst="ellipse">
            <a:avLst/>
          </a:prstGeom>
          <a:solidFill>
            <a:srgbClr val="77933C"/>
          </a:solidFill>
          <a:ln/>
        </p:spPr>
        <p:txBody>
          <a:bodyPr/>
          <a:lstStyle/>
          <a:p>
            <a:endParaRPr lang="ko-KR" altLang="en-US"/>
          </a:p>
        </p:txBody>
      </p:sp>
      <p:sp>
        <p:nvSpPr>
          <p:cNvPr id="13" name="Text 10"/>
          <p:cNvSpPr txBox="1"/>
          <p:nvPr/>
        </p:nvSpPr>
        <p:spPr>
          <a:xfrm>
            <a:off x="7269480" y="23500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14" name="Text 11"/>
          <p:cNvSpPr txBox="1"/>
          <p:nvPr/>
        </p:nvSpPr>
        <p:spPr>
          <a:xfrm>
            <a:off x="7818120" y="2331720"/>
            <a:ext cx="38862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송출 화면 그대로 입력
</a:t>
            </a:r>
            <a:r>
              <a:rPr lang="en-US" sz="1150" dirty="0">
                <a:solidFill>
                  <a:srgbClr val="595959"/>
                </a:solidFill>
                <a:latin typeface="맑은 고딕" pitchFamily="34" charset="0"/>
                <a:ea typeface="맑은 고딕" pitchFamily="34" charset="-122"/>
                <a:cs typeface="맑은 고딕" pitchFamily="34" charset="-120"/>
              </a:rPr>
              <a:t>드론 카메라 영상의 프레임 단위 판별</a:t>
            </a:r>
            <a:endParaRPr lang="en-US" sz="1500" dirty="0"/>
          </a:p>
        </p:txBody>
      </p:sp>
      <p:sp>
        <p:nvSpPr>
          <p:cNvPr id="15" name="Shape 12"/>
          <p:cNvSpPr/>
          <p:nvPr/>
        </p:nvSpPr>
        <p:spPr>
          <a:xfrm>
            <a:off x="7269480" y="3557016"/>
            <a:ext cx="384048" cy="384048"/>
          </a:xfrm>
          <a:prstGeom prst="ellipse">
            <a:avLst/>
          </a:prstGeom>
          <a:solidFill>
            <a:srgbClr val="77933C"/>
          </a:solidFill>
          <a:ln/>
        </p:spPr>
        <p:txBody>
          <a:bodyPr/>
          <a:lstStyle/>
          <a:p>
            <a:endParaRPr lang="ko-KR" altLang="en-US"/>
          </a:p>
        </p:txBody>
      </p:sp>
      <p:sp>
        <p:nvSpPr>
          <p:cNvPr id="16" name="Text 13"/>
          <p:cNvSpPr txBox="1"/>
          <p:nvPr/>
        </p:nvSpPr>
        <p:spPr>
          <a:xfrm>
            <a:off x="7269480" y="35570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7" name="Text 14"/>
          <p:cNvSpPr txBox="1"/>
          <p:nvPr/>
        </p:nvSpPr>
        <p:spPr>
          <a:xfrm>
            <a:off x="7818120" y="3538728"/>
            <a:ext cx="38862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우리 기체로 학습
</a:t>
            </a:r>
            <a:r>
              <a:rPr lang="en-US" sz="1150" dirty="0">
                <a:solidFill>
                  <a:srgbClr val="595959"/>
                </a:solidFill>
                <a:latin typeface="맑은 고딕" pitchFamily="34" charset="0"/>
                <a:ea typeface="맑은 고딕" pitchFamily="34" charset="-122"/>
                <a:cs typeface="맑은 고딕" pitchFamily="34" charset="-120"/>
              </a:rPr>
              <a:t>프로토타입 기체 이미지 학습을 통한 무인기 탐지</a:t>
            </a:r>
            <a:endParaRPr lang="en-US" sz="1500" dirty="0"/>
          </a:p>
        </p:txBody>
      </p:sp>
      <p:sp>
        <p:nvSpPr>
          <p:cNvPr id="18" name="Shape 15"/>
          <p:cNvSpPr/>
          <p:nvPr/>
        </p:nvSpPr>
        <p:spPr>
          <a:xfrm>
            <a:off x="7269480" y="4764024"/>
            <a:ext cx="384048" cy="384048"/>
          </a:xfrm>
          <a:prstGeom prst="ellipse">
            <a:avLst/>
          </a:prstGeom>
          <a:solidFill>
            <a:srgbClr val="77933C"/>
          </a:solidFill>
          <a:ln/>
        </p:spPr>
        <p:txBody>
          <a:bodyPr/>
          <a:lstStyle/>
          <a:p>
            <a:endParaRPr lang="ko-KR" altLang="en-US"/>
          </a:p>
        </p:txBody>
      </p:sp>
      <p:sp>
        <p:nvSpPr>
          <p:cNvPr id="19" name="Text 16"/>
          <p:cNvSpPr txBox="1"/>
          <p:nvPr/>
        </p:nvSpPr>
        <p:spPr>
          <a:xfrm>
            <a:off x="7269480" y="47640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0" name="Text 17"/>
          <p:cNvSpPr txBox="1"/>
          <p:nvPr/>
        </p:nvSpPr>
        <p:spPr>
          <a:xfrm>
            <a:off x="7818120" y="4745736"/>
            <a:ext cx="38862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3개 클래스 + 신뢰도
</a:t>
            </a:r>
            <a:r>
              <a:rPr lang="en-US" sz="1150" dirty="0">
                <a:solidFill>
                  <a:srgbClr val="595959"/>
                </a:solidFill>
                <a:latin typeface="맑은 고딕" pitchFamily="34" charset="0"/>
                <a:ea typeface="맑은 고딕" pitchFamily="34" charset="-122"/>
                <a:cs typeface="맑은 고딕" pitchFamily="34" charset="-120"/>
              </a:rPr>
              <a:t>새 · 풍선 · 무인기와 확률의 동시 표시</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07.</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식별에서 대응 결심까지 지원하는 근무자용 GUI</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탐지 결과의 이벤트화와 사람의 교차 검증</a:t>
            </a:r>
            <a:endParaRPr lang="en-US" sz="1300" dirty="0"/>
          </a:p>
        </p:txBody>
      </p:sp>
      <p:pic>
        <p:nvPicPr>
          <p:cNvPr id="10"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24866" y="2240280"/>
            <a:ext cx="6400800" cy="4133088"/>
          </a:xfrm>
          <a:prstGeom prst="rect">
            <a:avLst/>
          </a:prstGeom>
        </p:spPr>
      </p:pic>
      <p:sp>
        <p:nvSpPr>
          <p:cNvPr id="11" name="Shape 8"/>
          <p:cNvSpPr/>
          <p:nvPr/>
        </p:nvSpPr>
        <p:spPr>
          <a:xfrm>
            <a:off x="7269480" y="2304288"/>
            <a:ext cx="4434840" cy="896112"/>
          </a:xfrm>
          <a:prstGeom prst="rect">
            <a:avLst/>
          </a:prstGeom>
          <a:solidFill>
            <a:srgbClr val="F2F5EB"/>
          </a:solidFill>
          <a:ln/>
        </p:spPr>
        <p:txBody>
          <a:bodyPr/>
          <a:lstStyle/>
          <a:p>
            <a:endParaRPr lang="ko-KR" altLang="en-US"/>
          </a:p>
        </p:txBody>
      </p:sp>
      <p:sp>
        <p:nvSpPr>
          <p:cNvPr id="12" name="Shape 9"/>
          <p:cNvSpPr/>
          <p:nvPr/>
        </p:nvSpPr>
        <p:spPr>
          <a:xfrm>
            <a:off x="7269480" y="2304288"/>
            <a:ext cx="54864" cy="896112"/>
          </a:xfrm>
          <a:prstGeom prst="rect">
            <a:avLst/>
          </a:prstGeom>
          <a:solidFill>
            <a:srgbClr val="77933C"/>
          </a:solidFill>
          <a:ln/>
        </p:spPr>
        <p:txBody>
          <a:bodyPr/>
          <a:lstStyle/>
          <a:p>
            <a:endParaRPr lang="ko-KR" altLang="en-US"/>
          </a:p>
        </p:txBody>
      </p:sp>
      <p:sp>
        <p:nvSpPr>
          <p:cNvPr id="13" name="Text 10"/>
          <p:cNvSpPr txBox="1"/>
          <p:nvPr/>
        </p:nvSpPr>
        <p:spPr>
          <a:xfrm>
            <a:off x="7516368" y="2304288"/>
            <a:ext cx="4005072" cy="896112"/>
          </a:xfrm>
          <a:prstGeom prst="rect">
            <a:avLst/>
          </a:prstGeom>
          <a:noFill/>
          <a:ln/>
        </p:spPr>
        <p:txBody>
          <a:bodyPr wrap="square" lIns="0" tIns="0" rIns="0" bIns="0" rtlCol="0" anchor="ctr"/>
          <a:lstStyle/>
          <a:p>
            <a:pPr marL="0" indent="0">
              <a:lnSpc>
                <a:spcPct val="125000"/>
              </a:lnSpc>
              <a:buNone/>
            </a:pPr>
            <a:r>
              <a:rPr lang="en-US" sz="1400" b="1" dirty="0">
                <a:solidFill>
                  <a:srgbClr val="000000"/>
                </a:solidFill>
                <a:latin typeface="맑은 고딕" pitchFamily="34" charset="0"/>
                <a:ea typeface="맑은 고딕" pitchFamily="34" charset="-122"/>
                <a:cs typeface="맑은 고딕" pitchFamily="34" charset="-120"/>
              </a:rPr>
              <a:t>객체 정보 + 대응 안내
</a:t>
            </a:r>
            <a:r>
              <a:rPr lang="en-US" sz="1100" dirty="0">
                <a:solidFill>
                  <a:srgbClr val="595959"/>
                </a:solidFill>
                <a:latin typeface="맑은 고딕" pitchFamily="34" charset="0"/>
                <a:ea typeface="맑은 고딕" pitchFamily="34" charset="-122"/>
                <a:cs typeface="맑은 고딕" pitchFamily="34" charset="-120"/>
              </a:rPr>
              <a:t>탐지 객체와 필요한 대응의 즉시 표시</a:t>
            </a:r>
            <a:endParaRPr lang="en-US" sz="1400" dirty="0"/>
          </a:p>
        </p:txBody>
      </p:sp>
      <p:sp>
        <p:nvSpPr>
          <p:cNvPr id="14" name="Shape 11"/>
          <p:cNvSpPr/>
          <p:nvPr/>
        </p:nvSpPr>
        <p:spPr>
          <a:xfrm>
            <a:off x="7269480" y="3346704"/>
            <a:ext cx="4434840" cy="896112"/>
          </a:xfrm>
          <a:prstGeom prst="rect">
            <a:avLst/>
          </a:prstGeom>
          <a:solidFill>
            <a:srgbClr val="F4F4F4"/>
          </a:solidFill>
          <a:ln/>
        </p:spPr>
        <p:txBody>
          <a:bodyPr/>
          <a:lstStyle/>
          <a:p>
            <a:endParaRPr lang="ko-KR" altLang="en-US"/>
          </a:p>
        </p:txBody>
      </p:sp>
      <p:sp>
        <p:nvSpPr>
          <p:cNvPr id="15" name="Shape 12"/>
          <p:cNvSpPr/>
          <p:nvPr/>
        </p:nvSpPr>
        <p:spPr>
          <a:xfrm>
            <a:off x="7269480" y="3346704"/>
            <a:ext cx="54864" cy="896112"/>
          </a:xfrm>
          <a:prstGeom prst="rect">
            <a:avLst/>
          </a:prstGeom>
          <a:solidFill>
            <a:srgbClr val="BFBFBF"/>
          </a:solidFill>
          <a:ln/>
        </p:spPr>
        <p:txBody>
          <a:bodyPr/>
          <a:lstStyle/>
          <a:p>
            <a:endParaRPr lang="ko-KR" altLang="en-US"/>
          </a:p>
        </p:txBody>
      </p:sp>
      <p:sp>
        <p:nvSpPr>
          <p:cNvPr id="16" name="Text 13"/>
          <p:cNvSpPr txBox="1"/>
          <p:nvPr/>
        </p:nvSpPr>
        <p:spPr>
          <a:xfrm>
            <a:off x="7516368" y="3346704"/>
            <a:ext cx="4005072" cy="896112"/>
          </a:xfrm>
          <a:prstGeom prst="rect">
            <a:avLst/>
          </a:prstGeom>
          <a:noFill/>
          <a:ln/>
        </p:spPr>
        <p:txBody>
          <a:bodyPr wrap="square" lIns="0" tIns="0" rIns="0" bIns="0" rtlCol="0" anchor="ctr"/>
          <a:lstStyle/>
          <a:p>
            <a:pPr marL="0" indent="0">
              <a:lnSpc>
                <a:spcPct val="125000"/>
              </a:lnSpc>
              <a:buNone/>
            </a:pPr>
            <a:r>
              <a:rPr lang="en-US" sz="1400" b="1" dirty="0">
                <a:solidFill>
                  <a:srgbClr val="000000"/>
                </a:solidFill>
                <a:latin typeface="맑은 고딕" pitchFamily="34" charset="0"/>
                <a:ea typeface="맑은 고딕" pitchFamily="34" charset="-122"/>
                <a:cs typeface="맑은 고딕" pitchFamily="34" charset="-120"/>
              </a:rPr>
              <a:t>이벤트 로그
</a:t>
            </a:r>
            <a:r>
              <a:rPr lang="en-US" sz="1100" dirty="0">
                <a:solidFill>
                  <a:srgbClr val="595959"/>
                </a:solidFill>
                <a:latin typeface="맑은 고딕" pitchFamily="34" charset="0"/>
                <a:ea typeface="맑은 고딕" pitchFamily="34" charset="-122"/>
                <a:cs typeface="맑은 고딕" pitchFamily="34" charset="-120"/>
              </a:rPr>
              <a:t>시각 · 영상 시간 · 객체 · 신뢰도 · 상태 기록</a:t>
            </a:r>
            <a:endParaRPr lang="en-US" sz="1400" dirty="0"/>
          </a:p>
        </p:txBody>
      </p:sp>
      <p:sp>
        <p:nvSpPr>
          <p:cNvPr id="17" name="Shape 14"/>
          <p:cNvSpPr/>
          <p:nvPr/>
        </p:nvSpPr>
        <p:spPr>
          <a:xfrm>
            <a:off x="7269480" y="4389120"/>
            <a:ext cx="4434840" cy="896112"/>
          </a:xfrm>
          <a:prstGeom prst="rect">
            <a:avLst/>
          </a:prstGeom>
          <a:solidFill>
            <a:srgbClr val="F4F4F4"/>
          </a:solidFill>
          <a:ln/>
        </p:spPr>
        <p:txBody>
          <a:bodyPr/>
          <a:lstStyle/>
          <a:p>
            <a:endParaRPr lang="ko-KR" altLang="en-US"/>
          </a:p>
        </p:txBody>
      </p:sp>
      <p:sp>
        <p:nvSpPr>
          <p:cNvPr id="18" name="Shape 15"/>
          <p:cNvSpPr/>
          <p:nvPr/>
        </p:nvSpPr>
        <p:spPr>
          <a:xfrm>
            <a:off x="7269480" y="4389120"/>
            <a:ext cx="54864" cy="896112"/>
          </a:xfrm>
          <a:prstGeom prst="rect">
            <a:avLst/>
          </a:prstGeom>
          <a:solidFill>
            <a:srgbClr val="BFBFBF"/>
          </a:solidFill>
          <a:ln/>
        </p:spPr>
        <p:txBody>
          <a:bodyPr/>
          <a:lstStyle/>
          <a:p>
            <a:endParaRPr lang="ko-KR" altLang="en-US"/>
          </a:p>
        </p:txBody>
      </p:sp>
      <p:sp>
        <p:nvSpPr>
          <p:cNvPr id="19" name="Text 16"/>
          <p:cNvSpPr txBox="1"/>
          <p:nvPr/>
        </p:nvSpPr>
        <p:spPr>
          <a:xfrm>
            <a:off x="7516368" y="4389120"/>
            <a:ext cx="4005072" cy="896112"/>
          </a:xfrm>
          <a:prstGeom prst="rect">
            <a:avLst/>
          </a:prstGeom>
          <a:noFill/>
          <a:ln/>
        </p:spPr>
        <p:txBody>
          <a:bodyPr wrap="square" lIns="0" tIns="0" rIns="0" bIns="0" rtlCol="0" anchor="ctr"/>
          <a:lstStyle/>
          <a:p>
            <a:pPr marL="0" indent="0">
              <a:lnSpc>
                <a:spcPct val="125000"/>
              </a:lnSpc>
              <a:buNone/>
            </a:pPr>
            <a:r>
              <a:rPr lang="en-US" sz="1400" b="1" dirty="0">
                <a:solidFill>
                  <a:srgbClr val="000000"/>
                </a:solidFill>
                <a:latin typeface="맑은 고딕" pitchFamily="34" charset="0"/>
                <a:ea typeface="맑은 고딕" pitchFamily="34" charset="-122"/>
                <a:cs typeface="맑은 고딕" pitchFamily="34" charset="-120"/>
              </a:rPr>
              <a:t>새는 자동 종결
</a:t>
            </a:r>
            <a:r>
              <a:rPr lang="en-US" sz="1100" dirty="0">
                <a:solidFill>
                  <a:srgbClr val="595959"/>
                </a:solidFill>
                <a:latin typeface="맑은 고딕" pitchFamily="34" charset="0"/>
                <a:ea typeface="맑은 고딕" pitchFamily="34" charset="-122"/>
                <a:cs typeface="맑은 고딕" pitchFamily="34" charset="-120"/>
              </a:rPr>
              <a:t>위협 아님에 따른 '상황 종료' 자동 처리</a:t>
            </a:r>
            <a:endParaRPr lang="en-US" sz="1400" dirty="0"/>
          </a:p>
        </p:txBody>
      </p:sp>
      <p:sp>
        <p:nvSpPr>
          <p:cNvPr id="20" name="Shape 17"/>
          <p:cNvSpPr/>
          <p:nvPr/>
        </p:nvSpPr>
        <p:spPr>
          <a:xfrm>
            <a:off x="7269480" y="5431536"/>
            <a:ext cx="4434840" cy="896112"/>
          </a:xfrm>
          <a:prstGeom prst="rect">
            <a:avLst/>
          </a:prstGeom>
          <a:solidFill>
            <a:srgbClr val="F4F4F4"/>
          </a:solidFill>
          <a:ln/>
        </p:spPr>
        <p:txBody>
          <a:bodyPr/>
          <a:lstStyle/>
          <a:p>
            <a:endParaRPr lang="ko-KR" altLang="en-US"/>
          </a:p>
        </p:txBody>
      </p:sp>
      <p:sp>
        <p:nvSpPr>
          <p:cNvPr id="21" name="Shape 18"/>
          <p:cNvSpPr/>
          <p:nvPr/>
        </p:nvSpPr>
        <p:spPr>
          <a:xfrm>
            <a:off x="7269480" y="5431536"/>
            <a:ext cx="54864" cy="896112"/>
          </a:xfrm>
          <a:prstGeom prst="rect">
            <a:avLst/>
          </a:prstGeom>
          <a:solidFill>
            <a:srgbClr val="BFBFBF"/>
          </a:solidFill>
          <a:ln/>
        </p:spPr>
        <p:txBody>
          <a:bodyPr/>
          <a:lstStyle/>
          <a:p>
            <a:endParaRPr lang="ko-KR" altLang="en-US"/>
          </a:p>
        </p:txBody>
      </p:sp>
      <p:sp>
        <p:nvSpPr>
          <p:cNvPr id="22" name="Text 19"/>
          <p:cNvSpPr txBox="1"/>
          <p:nvPr/>
        </p:nvSpPr>
        <p:spPr>
          <a:xfrm>
            <a:off x="7516368" y="5431536"/>
            <a:ext cx="4005072" cy="896112"/>
          </a:xfrm>
          <a:prstGeom prst="rect">
            <a:avLst/>
          </a:prstGeom>
          <a:noFill/>
          <a:ln/>
        </p:spPr>
        <p:txBody>
          <a:bodyPr wrap="square" lIns="0" tIns="0" rIns="0" bIns="0" rtlCol="0" anchor="ctr"/>
          <a:lstStyle/>
          <a:p>
            <a:pPr marL="0" indent="0">
              <a:lnSpc>
                <a:spcPct val="125000"/>
              </a:lnSpc>
              <a:buNone/>
            </a:pPr>
            <a:r>
              <a:rPr lang="en-US" sz="1400" b="1" dirty="0">
                <a:solidFill>
                  <a:srgbClr val="000000"/>
                </a:solidFill>
                <a:latin typeface="맑은 고딕" pitchFamily="34" charset="0"/>
                <a:ea typeface="맑은 고딕" pitchFamily="34" charset="-122"/>
                <a:cs typeface="맑은 고딕" pitchFamily="34" charset="-120"/>
              </a:rPr>
              <a:t>사람 검증
</a:t>
            </a:r>
            <a:r>
              <a:rPr lang="en-US" sz="1100" dirty="0">
                <a:solidFill>
                  <a:srgbClr val="595959"/>
                </a:solidFill>
                <a:latin typeface="맑은 고딕" pitchFamily="34" charset="0"/>
                <a:ea typeface="맑은 고딕" pitchFamily="34" charset="-122"/>
                <a:cs typeface="맑은 고딕" pitchFamily="34" charset="-120"/>
              </a:rPr>
              <a:t>맞음 · 정정 입력을 통한 오인식 교차 검증</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08.</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앞으로 할 것</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표시 · 대응 · 탑재의 세 방향</a:t>
            </a:r>
            <a:endParaRPr lang="en-US" sz="1300" dirty="0"/>
          </a:p>
        </p:txBody>
      </p:sp>
      <p:sp>
        <p:nvSpPr>
          <p:cNvPr id="10" name="Shape 8"/>
          <p:cNvSpPr/>
          <p:nvPr/>
        </p:nvSpPr>
        <p:spPr>
          <a:xfrm>
            <a:off x="524866" y="2395728"/>
            <a:ext cx="5376672" cy="1700784"/>
          </a:xfrm>
          <a:prstGeom prst="rect">
            <a:avLst/>
          </a:prstGeom>
          <a:solidFill>
            <a:srgbClr val="F4F4F4"/>
          </a:solidFill>
          <a:ln/>
        </p:spPr>
        <p:txBody>
          <a:bodyPr/>
          <a:lstStyle/>
          <a:p>
            <a:endParaRPr lang="ko-KR" altLang="en-US"/>
          </a:p>
        </p:txBody>
      </p:sp>
      <p:sp>
        <p:nvSpPr>
          <p:cNvPr id="11" name="Shape 9"/>
          <p:cNvSpPr/>
          <p:nvPr/>
        </p:nvSpPr>
        <p:spPr>
          <a:xfrm>
            <a:off x="835762" y="2743200"/>
            <a:ext cx="475488" cy="475488"/>
          </a:xfrm>
          <a:prstGeom prst="ellipse">
            <a:avLst/>
          </a:prstGeom>
          <a:solidFill>
            <a:srgbClr val="77933C"/>
          </a:solidFill>
          <a:ln/>
        </p:spPr>
        <p:txBody>
          <a:bodyPr/>
          <a:lstStyle/>
          <a:p>
            <a:endParaRPr lang="ko-KR" altLang="en-US"/>
          </a:p>
        </p:txBody>
      </p:sp>
      <p:sp>
        <p:nvSpPr>
          <p:cNvPr id="12" name="Text 10"/>
          <p:cNvSpPr txBox="1"/>
          <p:nvPr/>
        </p:nvSpPr>
        <p:spPr>
          <a:xfrm>
            <a:off x="835762" y="274320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3" name="Text 11"/>
          <p:cNvSpPr txBox="1"/>
          <p:nvPr/>
        </p:nvSpPr>
        <p:spPr>
          <a:xfrm>
            <a:off x="1512418" y="2706624"/>
            <a:ext cx="4078224" cy="1078992"/>
          </a:xfrm>
          <a:prstGeom prst="rect">
            <a:avLst/>
          </a:prstGeom>
          <a:noFill/>
          <a:ln/>
        </p:spPr>
        <p:txBody>
          <a:bodyPr wrap="square" lIns="0" tIns="0" rIns="0" bIns="0" rtlCol="0" anchor="t"/>
          <a:lstStyle/>
          <a:p>
            <a:pPr marL="0" indent="0">
              <a:lnSpc>
                <a:spcPct val="130000"/>
              </a:lnSpc>
              <a:buNone/>
            </a:pPr>
            <a:r>
              <a:rPr lang="en-US" sz="1600" b="1" dirty="0">
                <a:solidFill>
                  <a:srgbClr val="000000"/>
                </a:solidFill>
                <a:latin typeface="맑은 고딕" pitchFamily="34" charset="0"/>
                <a:ea typeface="맑은 고딕" pitchFamily="34" charset="-122"/>
                <a:cs typeface="맑은 고딕" pitchFamily="34" charset="-120"/>
              </a:rPr>
              <a:t>OSD 객체 정보 표시
</a:t>
            </a:r>
            <a:r>
              <a:rPr lang="en-US" sz="1150" dirty="0">
                <a:solidFill>
                  <a:srgbClr val="595959"/>
                </a:solidFill>
                <a:latin typeface="맑은 고딕" pitchFamily="34" charset="0"/>
                <a:ea typeface="맑은 고딕" pitchFamily="34" charset="-122"/>
                <a:cs typeface="맑은 고딕" pitchFamily="34" charset="-120"/>
              </a:rPr>
              <a:t>고글 송출 화면 위 탐지 객체명의 텍스트 표시</a:t>
            </a:r>
            <a:endParaRPr lang="en-US" sz="1600" dirty="0"/>
          </a:p>
        </p:txBody>
      </p:sp>
      <p:sp>
        <p:nvSpPr>
          <p:cNvPr id="14" name="Shape 12"/>
          <p:cNvSpPr/>
          <p:nvPr/>
        </p:nvSpPr>
        <p:spPr>
          <a:xfrm>
            <a:off x="6331306" y="2395728"/>
            <a:ext cx="5376672" cy="1700784"/>
          </a:xfrm>
          <a:prstGeom prst="rect">
            <a:avLst/>
          </a:prstGeom>
          <a:solidFill>
            <a:srgbClr val="F4F4F4"/>
          </a:solidFill>
          <a:ln/>
        </p:spPr>
        <p:txBody>
          <a:bodyPr/>
          <a:lstStyle/>
          <a:p>
            <a:endParaRPr lang="ko-KR" altLang="en-US"/>
          </a:p>
        </p:txBody>
      </p:sp>
      <p:sp>
        <p:nvSpPr>
          <p:cNvPr id="15" name="Shape 13"/>
          <p:cNvSpPr/>
          <p:nvPr/>
        </p:nvSpPr>
        <p:spPr>
          <a:xfrm>
            <a:off x="6642202" y="2743200"/>
            <a:ext cx="475488" cy="475488"/>
          </a:xfrm>
          <a:prstGeom prst="ellipse">
            <a:avLst/>
          </a:prstGeom>
          <a:solidFill>
            <a:srgbClr val="77933C"/>
          </a:solidFill>
          <a:ln/>
        </p:spPr>
        <p:txBody>
          <a:bodyPr/>
          <a:lstStyle/>
          <a:p>
            <a:endParaRPr lang="ko-KR" altLang="en-US"/>
          </a:p>
        </p:txBody>
      </p:sp>
      <p:sp>
        <p:nvSpPr>
          <p:cNvPr id="16" name="Text 14"/>
          <p:cNvSpPr txBox="1"/>
          <p:nvPr/>
        </p:nvSpPr>
        <p:spPr>
          <a:xfrm>
            <a:off x="6642202" y="274320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7" name="Text 15"/>
          <p:cNvSpPr txBox="1"/>
          <p:nvPr/>
        </p:nvSpPr>
        <p:spPr>
          <a:xfrm>
            <a:off x="7318858" y="2706624"/>
            <a:ext cx="4078224" cy="1078992"/>
          </a:xfrm>
          <a:prstGeom prst="rect">
            <a:avLst/>
          </a:prstGeom>
          <a:noFill/>
          <a:ln/>
        </p:spPr>
        <p:txBody>
          <a:bodyPr wrap="square" lIns="0" tIns="0" rIns="0" bIns="0" rtlCol="0" anchor="t"/>
          <a:lstStyle/>
          <a:p>
            <a:pPr marL="0" indent="0">
              <a:lnSpc>
                <a:spcPct val="130000"/>
              </a:lnSpc>
              <a:buNone/>
            </a:pPr>
            <a:r>
              <a:rPr lang="en-US" sz="1600" b="1" dirty="0">
                <a:solidFill>
                  <a:srgbClr val="000000"/>
                </a:solidFill>
                <a:latin typeface="맑은 고딕" pitchFamily="34" charset="0"/>
                <a:ea typeface="맑은 고딕" pitchFamily="34" charset="-122"/>
                <a:cs typeface="맑은 고딕" pitchFamily="34" charset="-120"/>
              </a:rPr>
              <a:t>풍선 → 부착형 추적 드론
</a:t>
            </a:r>
            <a:r>
              <a:rPr lang="en-US" sz="1150" dirty="0">
                <a:solidFill>
                  <a:srgbClr val="595959"/>
                </a:solidFill>
                <a:latin typeface="맑은 고딕" pitchFamily="34" charset="0"/>
                <a:ea typeface="맑은 고딕" pitchFamily="34" charset="-122"/>
                <a:cs typeface="맑은 고딕" pitchFamily="34" charset="-120"/>
              </a:rPr>
              <a:t>풍선 탐지 시 추적 드론 투입 — 시뮬레이션은 다음 장</a:t>
            </a:r>
            <a:endParaRPr lang="en-US" sz="1600" dirty="0"/>
          </a:p>
        </p:txBody>
      </p:sp>
      <p:sp>
        <p:nvSpPr>
          <p:cNvPr id="18" name="Shape 16"/>
          <p:cNvSpPr/>
          <p:nvPr/>
        </p:nvSpPr>
        <p:spPr>
          <a:xfrm>
            <a:off x="524866" y="4407408"/>
            <a:ext cx="5376672" cy="1700784"/>
          </a:xfrm>
          <a:prstGeom prst="rect">
            <a:avLst/>
          </a:prstGeom>
          <a:solidFill>
            <a:srgbClr val="F4F4F4"/>
          </a:solidFill>
          <a:ln/>
        </p:spPr>
        <p:txBody>
          <a:bodyPr/>
          <a:lstStyle/>
          <a:p>
            <a:endParaRPr lang="ko-KR" altLang="en-US"/>
          </a:p>
        </p:txBody>
      </p:sp>
      <p:sp>
        <p:nvSpPr>
          <p:cNvPr id="19" name="Shape 17"/>
          <p:cNvSpPr/>
          <p:nvPr/>
        </p:nvSpPr>
        <p:spPr>
          <a:xfrm>
            <a:off x="835762" y="4754880"/>
            <a:ext cx="475488" cy="475488"/>
          </a:xfrm>
          <a:prstGeom prst="ellipse">
            <a:avLst/>
          </a:prstGeom>
          <a:solidFill>
            <a:srgbClr val="10253F"/>
          </a:solidFill>
          <a:ln/>
        </p:spPr>
        <p:txBody>
          <a:bodyPr/>
          <a:lstStyle/>
          <a:p>
            <a:endParaRPr lang="ko-KR" altLang="en-US"/>
          </a:p>
        </p:txBody>
      </p:sp>
      <p:sp>
        <p:nvSpPr>
          <p:cNvPr id="20" name="Text 18"/>
          <p:cNvSpPr txBox="1"/>
          <p:nvPr/>
        </p:nvSpPr>
        <p:spPr>
          <a:xfrm>
            <a:off x="835762" y="4754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Text 19"/>
          <p:cNvSpPr txBox="1"/>
          <p:nvPr/>
        </p:nvSpPr>
        <p:spPr>
          <a:xfrm>
            <a:off x="1512418" y="4718304"/>
            <a:ext cx="4078224" cy="1078992"/>
          </a:xfrm>
          <a:prstGeom prst="rect">
            <a:avLst/>
          </a:prstGeom>
          <a:noFill/>
          <a:ln/>
        </p:spPr>
        <p:txBody>
          <a:bodyPr wrap="square" lIns="0" tIns="0" rIns="0" bIns="0" rtlCol="0" anchor="t"/>
          <a:lstStyle/>
          <a:p>
            <a:pPr marL="0" indent="0">
              <a:lnSpc>
                <a:spcPct val="130000"/>
              </a:lnSpc>
              <a:buNone/>
            </a:pPr>
            <a:r>
              <a:rPr lang="en-US" sz="1600" b="1" dirty="0">
                <a:solidFill>
                  <a:srgbClr val="000000"/>
                </a:solidFill>
                <a:latin typeface="맑은 고딕" pitchFamily="34" charset="0"/>
                <a:ea typeface="맑은 고딕" pitchFamily="34" charset="-122"/>
                <a:cs typeface="맑은 고딕" pitchFamily="34" charset="-120"/>
              </a:rPr>
              <a:t>무인기 → 요격 드론
</a:t>
            </a:r>
            <a:r>
              <a:rPr lang="en-US" sz="1150" dirty="0">
                <a:solidFill>
                  <a:srgbClr val="595959"/>
                </a:solidFill>
                <a:latin typeface="맑은 고딕" pitchFamily="34" charset="0"/>
                <a:ea typeface="맑은 고딕" pitchFamily="34" charset="-122"/>
                <a:cs typeface="맑은 고딕" pitchFamily="34" charset="-120"/>
              </a:rPr>
              <a:t>온디바이스 AI 요격 드론 투입 — 시뮬레이션은 다음 장</a:t>
            </a:r>
            <a:endParaRPr lang="en-US" sz="1600" dirty="0"/>
          </a:p>
        </p:txBody>
      </p:sp>
      <p:sp>
        <p:nvSpPr>
          <p:cNvPr id="22" name="Shape 20"/>
          <p:cNvSpPr/>
          <p:nvPr/>
        </p:nvSpPr>
        <p:spPr>
          <a:xfrm>
            <a:off x="6331306" y="4407408"/>
            <a:ext cx="5376672" cy="1700784"/>
          </a:xfrm>
          <a:prstGeom prst="rect">
            <a:avLst/>
          </a:prstGeom>
          <a:solidFill>
            <a:srgbClr val="F4F4F4"/>
          </a:solidFill>
          <a:ln/>
        </p:spPr>
        <p:txBody>
          <a:bodyPr/>
          <a:lstStyle/>
          <a:p>
            <a:endParaRPr lang="ko-KR" altLang="en-US"/>
          </a:p>
        </p:txBody>
      </p:sp>
      <p:sp>
        <p:nvSpPr>
          <p:cNvPr id="23" name="Shape 21"/>
          <p:cNvSpPr/>
          <p:nvPr/>
        </p:nvSpPr>
        <p:spPr>
          <a:xfrm>
            <a:off x="6642202" y="4754880"/>
            <a:ext cx="475488" cy="475488"/>
          </a:xfrm>
          <a:prstGeom prst="ellipse">
            <a:avLst/>
          </a:prstGeom>
          <a:solidFill>
            <a:srgbClr val="10253F"/>
          </a:solidFill>
          <a:ln/>
        </p:spPr>
        <p:txBody>
          <a:bodyPr/>
          <a:lstStyle/>
          <a:p>
            <a:endParaRPr lang="ko-KR" altLang="en-US"/>
          </a:p>
        </p:txBody>
      </p:sp>
      <p:sp>
        <p:nvSpPr>
          <p:cNvPr id="24" name="Text 22"/>
          <p:cNvSpPr txBox="1"/>
          <p:nvPr/>
        </p:nvSpPr>
        <p:spPr>
          <a:xfrm>
            <a:off x="6642202" y="4754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5" name="Text 23"/>
          <p:cNvSpPr txBox="1"/>
          <p:nvPr/>
        </p:nvSpPr>
        <p:spPr>
          <a:xfrm>
            <a:off x="7318858" y="4718304"/>
            <a:ext cx="4078224" cy="1078992"/>
          </a:xfrm>
          <a:prstGeom prst="rect">
            <a:avLst/>
          </a:prstGeom>
          <a:noFill/>
          <a:ln/>
        </p:spPr>
        <p:txBody>
          <a:bodyPr wrap="square" lIns="0" tIns="0" rIns="0" bIns="0" rtlCol="0" anchor="t"/>
          <a:lstStyle/>
          <a:p>
            <a:pPr marL="0" indent="0">
              <a:lnSpc>
                <a:spcPct val="130000"/>
              </a:lnSpc>
              <a:buNone/>
            </a:pPr>
            <a:r>
              <a:rPr lang="en-US" sz="1600" b="1" dirty="0">
                <a:solidFill>
                  <a:srgbClr val="000000"/>
                </a:solidFill>
                <a:latin typeface="맑은 고딕" pitchFamily="34" charset="0"/>
                <a:ea typeface="맑은 고딕" pitchFamily="34" charset="-122"/>
                <a:cs typeface="맑은 고딕" pitchFamily="34" charset="-120"/>
              </a:rPr>
              <a:t>기체 탑재 온디바이스 추론
</a:t>
            </a:r>
            <a:r>
              <a:rPr lang="en-US" sz="1150" dirty="0">
                <a:solidFill>
                  <a:srgbClr val="595959"/>
                </a:solidFill>
                <a:latin typeface="맑은 고딕" pitchFamily="34" charset="0"/>
                <a:ea typeface="맑은 고딕" pitchFamily="34" charset="-122"/>
                <a:cs typeface="맑은 고딕" pitchFamily="34" charset="-120"/>
              </a:rPr>
              <a:t>탐지 모델 경량화 후 드론 보드 탑재</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09.</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오물풍선 — 기낭 비파괴 GPS 부착</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요격이 아닌 추적 및 낙하 지점 확보 중심의 대응</a:t>
            </a:r>
            <a:endParaRPr lang="en-US" sz="1300" dirty="0"/>
          </a:p>
        </p:txBody>
      </p:sp>
      <p:pic>
        <p:nvPicPr>
          <p:cNvPr id="10"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2960" y="2286000"/>
            <a:ext cx="4727448" cy="4023360"/>
          </a:xfrm>
          <a:prstGeom prst="rect">
            <a:avLst/>
          </a:prstGeom>
        </p:spPr>
      </p:pic>
      <p:sp>
        <p:nvSpPr>
          <p:cNvPr id="11" name="Text 8"/>
          <p:cNvSpPr txBox="1"/>
          <p:nvPr/>
        </p:nvSpPr>
        <p:spPr>
          <a:xfrm>
            <a:off x="548640" y="6364224"/>
            <a:ext cx="5276088" cy="228600"/>
          </a:xfrm>
          <a:prstGeom prst="rect">
            <a:avLst/>
          </a:prstGeom>
          <a:noFill/>
          <a:ln/>
        </p:spPr>
        <p:txBody>
          <a:bodyPr wrap="square" lIns="0" tIns="0" rIns="0" bIns="0" rtlCol="0" anchor="ctr"/>
          <a:lstStyle/>
          <a:p>
            <a:pPr marL="0" indent="0" algn="ctr">
              <a:buNone/>
            </a:pPr>
            <a:r>
              <a:rPr lang="en-US" sz="1050" dirty="0">
                <a:solidFill>
                  <a:srgbClr val="595959"/>
                </a:solidFill>
                <a:latin typeface="맑은 고딕" pitchFamily="34" charset="0"/>
                <a:ea typeface="맑은 고딕" pitchFamily="34" charset="-122"/>
                <a:cs typeface="맑은 고딕" pitchFamily="34" charset="-120"/>
              </a:rPr>
              <a:t>블렌더 시뮬레이션 — 추적 드론의 오물 적재함 접근 장면</a:t>
            </a:r>
            <a:endParaRPr lang="en-US" sz="1050" dirty="0"/>
          </a:p>
        </p:txBody>
      </p:sp>
      <p:sp>
        <p:nvSpPr>
          <p:cNvPr id="12" name="Shape 9"/>
          <p:cNvSpPr/>
          <p:nvPr/>
        </p:nvSpPr>
        <p:spPr>
          <a:xfrm>
            <a:off x="6583680" y="2578608"/>
            <a:ext cx="384048" cy="384048"/>
          </a:xfrm>
          <a:prstGeom prst="ellipse">
            <a:avLst/>
          </a:prstGeom>
          <a:solidFill>
            <a:srgbClr val="77933C"/>
          </a:solidFill>
          <a:ln/>
        </p:spPr>
        <p:txBody>
          <a:bodyPr/>
          <a:lstStyle/>
          <a:p>
            <a:endParaRPr lang="ko-KR" altLang="en-US"/>
          </a:p>
        </p:txBody>
      </p:sp>
      <p:sp>
        <p:nvSpPr>
          <p:cNvPr id="13" name="Text 10"/>
          <p:cNvSpPr txBox="1"/>
          <p:nvPr/>
        </p:nvSpPr>
        <p:spPr>
          <a:xfrm>
            <a:off x="6583680" y="2578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14" name="Text 11"/>
          <p:cNvSpPr txBox="1"/>
          <p:nvPr/>
        </p:nvSpPr>
        <p:spPr>
          <a:xfrm>
            <a:off x="7132320" y="2560320"/>
            <a:ext cx="45720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기낭이 아닌 적재함 지향
</a:t>
            </a:r>
            <a:r>
              <a:rPr lang="en-US" sz="1150" dirty="0">
                <a:solidFill>
                  <a:srgbClr val="595959"/>
                </a:solidFill>
                <a:latin typeface="맑은 고딕" pitchFamily="34" charset="0"/>
                <a:ea typeface="맑은 고딕" pitchFamily="34" charset="-122"/>
                <a:cs typeface="맑은 고딕" pitchFamily="34" charset="-120"/>
              </a:rPr>
              <a:t>도심 요격 시 오물 비산 및 파편 낙하 위험</a:t>
            </a:r>
            <a:endParaRPr lang="en-US" sz="1500" dirty="0"/>
          </a:p>
        </p:txBody>
      </p:sp>
      <p:sp>
        <p:nvSpPr>
          <p:cNvPr id="15" name="Shape 12"/>
          <p:cNvSpPr/>
          <p:nvPr/>
        </p:nvSpPr>
        <p:spPr>
          <a:xfrm>
            <a:off x="6583680" y="3877056"/>
            <a:ext cx="384048" cy="384048"/>
          </a:xfrm>
          <a:prstGeom prst="ellipse">
            <a:avLst/>
          </a:prstGeom>
          <a:solidFill>
            <a:srgbClr val="77933C"/>
          </a:solidFill>
          <a:ln/>
        </p:spPr>
        <p:txBody>
          <a:bodyPr/>
          <a:lstStyle/>
          <a:p>
            <a:endParaRPr lang="ko-KR" altLang="en-US"/>
          </a:p>
        </p:txBody>
      </p:sp>
      <p:sp>
        <p:nvSpPr>
          <p:cNvPr id="16" name="Text 13"/>
          <p:cNvSpPr txBox="1"/>
          <p:nvPr/>
        </p:nvSpPr>
        <p:spPr>
          <a:xfrm>
            <a:off x="6583680" y="38770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7" name="Text 14"/>
          <p:cNvSpPr txBox="1"/>
          <p:nvPr/>
        </p:nvSpPr>
        <p:spPr>
          <a:xfrm>
            <a:off x="7132320" y="3858768"/>
            <a:ext cx="45720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적재 부위에 GPS 트래커 삽입
</a:t>
            </a:r>
            <a:r>
              <a:rPr lang="en-US" sz="1150" dirty="0">
                <a:solidFill>
                  <a:srgbClr val="595959"/>
                </a:solidFill>
                <a:latin typeface="맑은 고딕" pitchFamily="34" charset="0"/>
                <a:ea typeface="맑은 고딕" pitchFamily="34" charset="-122"/>
                <a:cs typeface="맑은 고딕" pitchFamily="34" charset="-120"/>
              </a:rPr>
              <a:t>기체 전단의 적재함 관통 및 초소형 트래커 고정</a:t>
            </a:r>
            <a:endParaRPr lang="en-US" sz="1500" dirty="0"/>
          </a:p>
        </p:txBody>
      </p:sp>
      <p:sp>
        <p:nvSpPr>
          <p:cNvPr id="18" name="Shape 15"/>
          <p:cNvSpPr/>
          <p:nvPr/>
        </p:nvSpPr>
        <p:spPr>
          <a:xfrm>
            <a:off x="6583680" y="5175504"/>
            <a:ext cx="384048" cy="384048"/>
          </a:xfrm>
          <a:prstGeom prst="ellipse">
            <a:avLst/>
          </a:prstGeom>
          <a:solidFill>
            <a:srgbClr val="77933C"/>
          </a:solidFill>
          <a:ln/>
        </p:spPr>
        <p:txBody>
          <a:bodyPr/>
          <a:lstStyle/>
          <a:p>
            <a:endParaRPr lang="ko-KR" altLang="en-US"/>
          </a:p>
        </p:txBody>
      </p:sp>
      <p:sp>
        <p:nvSpPr>
          <p:cNvPr id="19" name="Text 16"/>
          <p:cNvSpPr txBox="1"/>
          <p:nvPr/>
        </p:nvSpPr>
        <p:spPr>
          <a:xfrm>
            <a:off x="6583680" y="51755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0" name="Text 17"/>
          <p:cNvSpPr txBox="1"/>
          <p:nvPr/>
        </p:nvSpPr>
        <p:spPr>
          <a:xfrm>
            <a:off x="7132320" y="5157216"/>
            <a:ext cx="45720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비산 후에도 좌표 유지
</a:t>
            </a:r>
            <a:r>
              <a:rPr lang="en-US" sz="1150" dirty="0">
                <a:solidFill>
                  <a:srgbClr val="595959"/>
                </a:solidFill>
                <a:latin typeface="맑은 고딕" pitchFamily="34" charset="0"/>
                <a:ea typeface="맑은 고딕" pitchFamily="34" charset="-122"/>
                <a:cs typeface="맑은 고딕" pitchFamily="34" charset="-120"/>
              </a:rPr>
              <a:t>낙하 지점까지 추적 및 하부 지역 경고 발송</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Shape 2"/>
          <p:cNvSpPr/>
          <p:nvPr/>
        </p:nvSpPr>
        <p:spPr>
          <a:xfrm>
            <a:off x="2219249" y="804672"/>
            <a:ext cx="9524390" cy="0"/>
          </a:xfrm>
          <a:prstGeom prst="line">
            <a:avLst/>
          </a:prstGeom>
          <a:noFill/>
          <a:ln w="38100">
            <a:solidFill>
              <a:srgbClr val="77933C"/>
            </a:solidFill>
            <a:prstDash val="solid"/>
          </a:ln>
        </p:spPr>
        <p:txBody>
          <a:bodyPr/>
          <a:lstStyle/>
          <a:p>
            <a:endParaRPr lang="ko-KR" altLang="en-US"/>
          </a:p>
        </p:txBody>
      </p:sp>
      <p:sp>
        <p:nvSpPr>
          <p:cNvPr id="5" name="Shape 3"/>
          <p:cNvSpPr/>
          <p:nvPr/>
        </p:nvSpPr>
        <p:spPr>
          <a:xfrm>
            <a:off x="2488997" y="922630"/>
            <a:ext cx="9524390" cy="0"/>
          </a:xfrm>
          <a:prstGeom prst="line">
            <a:avLst/>
          </a:prstGeom>
          <a:noFill/>
          <a:ln w="38100">
            <a:solidFill>
              <a:srgbClr val="000000"/>
            </a:solidFill>
            <a:prstDash val="solid"/>
          </a:ln>
        </p:spPr>
        <p:txBody>
          <a:bodyPr/>
          <a:lstStyle/>
          <a:p>
            <a:endParaRPr lang="ko-KR" altLang="en-US"/>
          </a:p>
        </p:txBody>
      </p:sp>
      <p:sp>
        <p:nvSpPr>
          <p:cNvPr id="6" name="Text 4"/>
          <p:cNvSpPr txBox="1"/>
          <p:nvPr/>
        </p:nvSpPr>
        <p:spPr>
          <a:xfrm>
            <a:off x="465430" y="548640"/>
            <a:ext cx="1463040" cy="457200"/>
          </a:xfrm>
          <a:prstGeom prst="rect">
            <a:avLst/>
          </a:prstGeom>
          <a:noFill/>
          <a:ln/>
        </p:spPr>
        <p:txBody>
          <a:bodyPr wrap="square" lIns="0" tIns="0" rIns="0" bIns="0" rtlCol="0" anchor="ctr"/>
          <a:lstStyle/>
          <a:p>
            <a:pPr marL="0" indent="0">
              <a:buNone/>
            </a:pPr>
            <a:r>
              <a:rPr lang="en-US" sz="2600" dirty="0">
                <a:solidFill>
                  <a:srgbClr val="7F7F7F"/>
                </a:solidFill>
                <a:latin typeface="맑은 고딕" pitchFamily="34" charset="0"/>
                <a:ea typeface="맑은 고딕" pitchFamily="34" charset="-122"/>
                <a:cs typeface="맑은 고딕" pitchFamily="34" charset="-120"/>
              </a:rPr>
              <a:t>10.</a:t>
            </a:r>
            <a:endParaRPr lang="en-US" sz="2600" dirty="0"/>
          </a:p>
        </p:txBody>
      </p:sp>
      <p:sp>
        <p:nvSpPr>
          <p:cNvPr id="7" name="Shape 5"/>
          <p:cNvSpPr/>
          <p:nvPr/>
        </p:nvSpPr>
        <p:spPr>
          <a:xfrm>
            <a:off x="2210105" y="6536131"/>
            <a:ext cx="9528962" cy="0"/>
          </a:xfrm>
          <a:prstGeom prst="line">
            <a:avLst/>
          </a:prstGeom>
          <a:noFill/>
          <a:ln w="12700">
            <a:solidFill>
              <a:srgbClr val="BCCBD9"/>
            </a:solidFill>
            <a:prstDash val="solid"/>
          </a:ln>
        </p:spPr>
        <p:txBody>
          <a:bodyPr/>
          <a:lstStyle/>
          <a:p>
            <a:endParaRPr lang="ko-KR" altLang="en-US"/>
          </a:p>
        </p:txBody>
      </p:sp>
      <p:sp>
        <p:nvSpPr>
          <p:cNvPr id="8" name="Text 6"/>
          <p:cNvSpPr txBox="1"/>
          <p:nvPr/>
        </p:nvSpPr>
        <p:spPr>
          <a:xfrm>
            <a:off x="465430" y="1280160"/>
            <a:ext cx="11238890" cy="566928"/>
          </a:xfrm>
          <a:prstGeom prst="rect">
            <a:avLst/>
          </a:prstGeom>
          <a:noFill/>
          <a:ln/>
        </p:spPr>
        <p:txBody>
          <a:bodyPr wrap="square" lIns="0" tIns="0" rIns="0" bIns="0" rtlCol="0" anchor="ctr"/>
          <a:lstStyle/>
          <a:p>
            <a:pPr marL="0" indent="0">
              <a:buNone/>
            </a:pPr>
            <a:r>
              <a:rPr lang="en-US" sz="2800" b="1" dirty="0">
                <a:solidFill>
                  <a:srgbClr val="002060"/>
                </a:solidFill>
                <a:latin typeface="맑은 고딕" pitchFamily="34" charset="0"/>
                <a:ea typeface="맑은 고딕" pitchFamily="34" charset="-122"/>
                <a:cs typeface="맑은 고딕" pitchFamily="34" charset="-120"/>
              </a:rPr>
              <a:t>무인기 — 회피 기동 추적 후 직접 충돌</a:t>
            </a:r>
            <a:endParaRPr lang="en-US" sz="2800" dirty="0"/>
          </a:p>
        </p:txBody>
      </p:sp>
      <p:sp>
        <p:nvSpPr>
          <p:cNvPr id="9" name="Text 7"/>
          <p:cNvSpPr txBox="1"/>
          <p:nvPr/>
        </p:nvSpPr>
        <p:spPr>
          <a:xfrm>
            <a:off x="524866" y="1920240"/>
            <a:ext cx="11179454" cy="274320"/>
          </a:xfrm>
          <a:prstGeom prst="rect">
            <a:avLst/>
          </a:prstGeom>
          <a:noFill/>
          <a:ln/>
        </p:spPr>
        <p:txBody>
          <a:bodyPr wrap="square" lIns="0" tIns="0" rIns="0" bIns="0" rtlCol="0" anchor="ctr"/>
          <a:lstStyle/>
          <a:p>
            <a:pPr marL="0" indent="0">
              <a:buNone/>
            </a:pPr>
            <a:r>
              <a:rPr lang="en-US" sz="1300" dirty="0">
                <a:solidFill>
                  <a:srgbClr val="595959"/>
                </a:solidFill>
                <a:latin typeface="맑은 고딕" pitchFamily="34" charset="0"/>
                <a:ea typeface="맑은 고딕" pitchFamily="34" charset="-122"/>
                <a:cs typeface="맑은 고딕" pitchFamily="34" charset="-120"/>
              </a:rPr>
              <a:t>요격 신호 수신부터 무력화까지의 자동 수행</a:t>
            </a:r>
            <a:endParaRPr lang="en-US" sz="1300" dirty="0"/>
          </a:p>
        </p:txBody>
      </p:sp>
      <p:pic>
        <p:nvPicPr>
          <p:cNvPr id="10"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88720" y="2286000"/>
            <a:ext cx="4005072" cy="4023360"/>
          </a:xfrm>
          <a:prstGeom prst="rect">
            <a:avLst/>
          </a:prstGeom>
        </p:spPr>
      </p:pic>
      <p:sp>
        <p:nvSpPr>
          <p:cNvPr id="11" name="Text 8"/>
          <p:cNvSpPr txBox="1"/>
          <p:nvPr/>
        </p:nvSpPr>
        <p:spPr>
          <a:xfrm>
            <a:off x="548640" y="6364224"/>
            <a:ext cx="5276088" cy="228600"/>
          </a:xfrm>
          <a:prstGeom prst="rect">
            <a:avLst/>
          </a:prstGeom>
          <a:noFill/>
          <a:ln/>
        </p:spPr>
        <p:txBody>
          <a:bodyPr wrap="square" lIns="0" tIns="0" rIns="0" bIns="0" rtlCol="0" anchor="ctr"/>
          <a:lstStyle/>
          <a:p>
            <a:pPr marL="0" indent="0" algn="ctr">
              <a:buNone/>
            </a:pPr>
            <a:r>
              <a:rPr lang="en-US" sz="1050" dirty="0">
                <a:solidFill>
                  <a:srgbClr val="595959"/>
                </a:solidFill>
                <a:latin typeface="맑은 고딕" pitchFamily="34" charset="0"/>
                <a:ea typeface="맑은 고딕" pitchFamily="34" charset="-122"/>
                <a:cs typeface="맑은 고딕" pitchFamily="34" charset="-120"/>
              </a:rPr>
              <a:t>블렌더 시뮬레이션 — 요격 드론 시점의 목표 충돌 장면</a:t>
            </a:r>
            <a:endParaRPr lang="en-US" sz="1050" dirty="0"/>
          </a:p>
        </p:txBody>
      </p:sp>
      <p:sp>
        <p:nvSpPr>
          <p:cNvPr id="12" name="Shape 9"/>
          <p:cNvSpPr/>
          <p:nvPr/>
        </p:nvSpPr>
        <p:spPr>
          <a:xfrm>
            <a:off x="6583680" y="2578608"/>
            <a:ext cx="384048" cy="384048"/>
          </a:xfrm>
          <a:prstGeom prst="ellipse">
            <a:avLst/>
          </a:prstGeom>
          <a:solidFill>
            <a:srgbClr val="77933C"/>
          </a:solidFill>
          <a:ln/>
        </p:spPr>
        <p:txBody>
          <a:bodyPr/>
          <a:lstStyle/>
          <a:p>
            <a:endParaRPr lang="ko-KR" altLang="en-US"/>
          </a:p>
        </p:txBody>
      </p:sp>
      <p:sp>
        <p:nvSpPr>
          <p:cNvPr id="13" name="Text 10"/>
          <p:cNvSpPr txBox="1"/>
          <p:nvPr/>
        </p:nvSpPr>
        <p:spPr>
          <a:xfrm>
            <a:off x="6583680" y="2578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14" name="Text 11"/>
          <p:cNvSpPr txBox="1"/>
          <p:nvPr/>
        </p:nvSpPr>
        <p:spPr>
          <a:xfrm>
            <a:off x="7132320" y="2560320"/>
            <a:ext cx="45720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요격 신호 수신 후 출격
</a:t>
            </a:r>
            <a:r>
              <a:rPr lang="en-US" sz="1150" dirty="0">
                <a:solidFill>
                  <a:srgbClr val="595959"/>
                </a:solidFill>
                <a:latin typeface="맑은 고딕" pitchFamily="34" charset="0"/>
                <a:ea typeface="맑은 고딕" pitchFamily="34" charset="-122"/>
                <a:cs typeface="맑은 고딕" pitchFamily="34" charset="-120"/>
              </a:rPr>
              <a:t>GUI에서 무인기로 확정된 목표 좌표의 수신</a:t>
            </a:r>
            <a:endParaRPr lang="en-US" sz="1500" dirty="0"/>
          </a:p>
        </p:txBody>
      </p:sp>
      <p:sp>
        <p:nvSpPr>
          <p:cNvPr id="15" name="Shape 12"/>
          <p:cNvSpPr/>
          <p:nvPr/>
        </p:nvSpPr>
        <p:spPr>
          <a:xfrm>
            <a:off x="6583680" y="3877056"/>
            <a:ext cx="384048" cy="384048"/>
          </a:xfrm>
          <a:prstGeom prst="ellipse">
            <a:avLst/>
          </a:prstGeom>
          <a:solidFill>
            <a:srgbClr val="77933C"/>
          </a:solidFill>
          <a:ln/>
        </p:spPr>
        <p:txBody>
          <a:bodyPr/>
          <a:lstStyle/>
          <a:p>
            <a:endParaRPr lang="ko-KR" altLang="en-US"/>
          </a:p>
        </p:txBody>
      </p:sp>
      <p:sp>
        <p:nvSpPr>
          <p:cNvPr id="16" name="Text 13"/>
          <p:cNvSpPr txBox="1"/>
          <p:nvPr/>
        </p:nvSpPr>
        <p:spPr>
          <a:xfrm>
            <a:off x="6583680" y="38770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7" name="Text 14"/>
          <p:cNvSpPr txBox="1"/>
          <p:nvPr/>
        </p:nvSpPr>
        <p:spPr>
          <a:xfrm>
            <a:off x="7132320" y="3858768"/>
            <a:ext cx="45720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회피 기동 실시간 추적
</a:t>
            </a:r>
            <a:r>
              <a:rPr lang="en-US" sz="1150" dirty="0">
                <a:solidFill>
                  <a:srgbClr val="595959"/>
                </a:solidFill>
                <a:latin typeface="맑은 고딕" pitchFamily="34" charset="0"/>
                <a:ea typeface="맑은 고딕" pitchFamily="34" charset="-122"/>
                <a:cs typeface="맑은 고딕" pitchFamily="34" charset="-120"/>
              </a:rPr>
              <a:t>온디바이스 AI의 프레임 단위 목표 재포착 및 궤적 갱신</a:t>
            </a:r>
            <a:endParaRPr lang="en-US" sz="1500" dirty="0"/>
          </a:p>
        </p:txBody>
      </p:sp>
      <p:sp>
        <p:nvSpPr>
          <p:cNvPr id="18" name="Shape 15"/>
          <p:cNvSpPr/>
          <p:nvPr/>
        </p:nvSpPr>
        <p:spPr>
          <a:xfrm>
            <a:off x="6583680" y="5175504"/>
            <a:ext cx="384048" cy="384048"/>
          </a:xfrm>
          <a:prstGeom prst="ellipse">
            <a:avLst/>
          </a:prstGeom>
          <a:solidFill>
            <a:srgbClr val="77933C"/>
          </a:solidFill>
          <a:ln/>
        </p:spPr>
        <p:txBody>
          <a:bodyPr/>
          <a:lstStyle/>
          <a:p>
            <a:endParaRPr lang="ko-KR" altLang="en-US"/>
          </a:p>
        </p:txBody>
      </p:sp>
      <p:sp>
        <p:nvSpPr>
          <p:cNvPr id="19" name="Text 16"/>
          <p:cNvSpPr txBox="1"/>
          <p:nvPr/>
        </p:nvSpPr>
        <p:spPr>
          <a:xfrm>
            <a:off x="6583680" y="51755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0" name="Text 17"/>
          <p:cNvSpPr txBox="1"/>
          <p:nvPr/>
        </p:nvSpPr>
        <p:spPr>
          <a:xfrm>
            <a:off x="7132320" y="5157216"/>
            <a:ext cx="4572000" cy="960120"/>
          </a:xfrm>
          <a:prstGeom prst="rect">
            <a:avLst/>
          </a:prstGeom>
          <a:noFill/>
          <a:ln/>
        </p:spPr>
        <p:txBody>
          <a:bodyPr wrap="square" lIns="0" tIns="0" rIns="0" bIns="0" rtlCol="0" anchor="t"/>
          <a:lstStyle/>
          <a:p>
            <a:pPr marL="0" indent="0">
              <a:lnSpc>
                <a:spcPct val="128000"/>
              </a:lnSpc>
              <a:buNone/>
            </a:pPr>
            <a:r>
              <a:rPr lang="en-US" sz="1500" b="1" dirty="0">
                <a:solidFill>
                  <a:srgbClr val="000000"/>
                </a:solidFill>
                <a:latin typeface="맑은 고딕" pitchFamily="34" charset="0"/>
                <a:ea typeface="맑은 고딕" pitchFamily="34" charset="-122"/>
                <a:cs typeface="맑은 고딕" pitchFamily="34" charset="-120"/>
              </a:rPr>
              <a:t>기체 직접 충돌
</a:t>
            </a:r>
            <a:r>
              <a:rPr lang="en-US" sz="1150" dirty="0">
                <a:solidFill>
                  <a:srgbClr val="595959"/>
                </a:solidFill>
                <a:latin typeface="맑은 고딕" pitchFamily="34" charset="0"/>
                <a:ea typeface="맑은 고딕" pitchFamily="34" charset="-122"/>
                <a:cs typeface="맑은 고딕" pitchFamily="34" charset="-120"/>
              </a:rPr>
              <a:t>탄약 미사용에 따른 도심 상공 파편 피해 최소화</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19249" cy="194767"/>
          </a:xfrm>
          <a:prstGeom prst="rect">
            <a:avLst/>
          </a:prstGeom>
          <a:solidFill>
            <a:srgbClr val="77933C"/>
          </a:solidFill>
          <a:ln/>
        </p:spPr>
        <p:txBody>
          <a:bodyPr/>
          <a:lstStyle/>
          <a:p>
            <a:endParaRPr lang="ko-KR" altLang="en-US"/>
          </a:p>
        </p:txBody>
      </p:sp>
      <p:sp>
        <p:nvSpPr>
          <p:cNvPr id="3" name="Shape 1"/>
          <p:cNvSpPr/>
          <p:nvPr/>
        </p:nvSpPr>
        <p:spPr>
          <a:xfrm>
            <a:off x="2219249" y="0"/>
            <a:ext cx="9972446" cy="194767"/>
          </a:xfrm>
          <a:prstGeom prst="rect">
            <a:avLst/>
          </a:prstGeom>
          <a:solidFill>
            <a:srgbClr val="10253F"/>
          </a:solidFill>
          <a:ln/>
        </p:spPr>
        <p:txBody>
          <a:bodyPr/>
          <a:lstStyle/>
          <a:p>
            <a:endParaRPr lang="ko-KR" altLang="en-US"/>
          </a:p>
        </p:txBody>
      </p:sp>
      <p:sp>
        <p:nvSpPr>
          <p:cNvPr id="4" name="Text 2"/>
          <p:cNvSpPr txBox="1"/>
          <p:nvPr/>
        </p:nvSpPr>
        <p:spPr>
          <a:xfrm>
            <a:off x="548640" y="2788920"/>
            <a:ext cx="11094415" cy="868680"/>
          </a:xfrm>
          <a:prstGeom prst="rect">
            <a:avLst/>
          </a:prstGeom>
          <a:noFill/>
          <a:ln/>
        </p:spPr>
        <p:txBody>
          <a:bodyPr wrap="square" lIns="0" tIns="0" rIns="0" bIns="0" rtlCol="0" anchor="ctr"/>
          <a:lstStyle/>
          <a:p>
            <a:pPr marL="0" indent="0" algn="ctr">
              <a:buNone/>
            </a:pPr>
            <a:r>
              <a:rPr lang="en-US" sz="4400" b="1" dirty="0">
                <a:solidFill>
                  <a:srgbClr val="000000"/>
                </a:solidFill>
                <a:latin typeface="맑은 고딕" pitchFamily="34" charset="0"/>
                <a:ea typeface="맑은 고딕" pitchFamily="34" charset="-122"/>
                <a:cs typeface="맑은 고딕" pitchFamily="34" charset="-120"/>
              </a:rPr>
              <a:t>감사합니다</a:t>
            </a:r>
            <a:endParaRPr lang="en-US" sz="4400" dirty="0"/>
          </a:p>
        </p:txBody>
      </p:sp>
      <p:sp>
        <p:nvSpPr>
          <p:cNvPr id="5" name="Shape 3"/>
          <p:cNvSpPr/>
          <p:nvPr/>
        </p:nvSpPr>
        <p:spPr>
          <a:xfrm>
            <a:off x="1727302" y="3822192"/>
            <a:ext cx="8738006" cy="25603"/>
          </a:xfrm>
          <a:prstGeom prst="rect">
            <a:avLst/>
          </a:prstGeom>
          <a:solidFill>
            <a:srgbClr val="BFBFBF"/>
          </a:solidFill>
          <a:ln/>
        </p:spPr>
        <p:txBody>
          <a:bodyPr/>
          <a:lstStyle/>
          <a:p>
            <a:endParaRPr lang="ko-KR" altLang="en-US"/>
          </a:p>
        </p:txBody>
      </p:sp>
      <p:sp>
        <p:nvSpPr>
          <p:cNvPr id="6" name="Text 4"/>
          <p:cNvSpPr txBox="1"/>
          <p:nvPr/>
        </p:nvSpPr>
        <p:spPr>
          <a:xfrm>
            <a:off x="548640" y="3986784"/>
            <a:ext cx="11094415" cy="274320"/>
          </a:xfrm>
          <a:prstGeom prst="rect">
            <a:avLst/>
          </a:prstGeom>
          <a:noFill/>
          <a:ln/>
        </p:spPr>
        <p:txBody>
          <a:bodyPr wrap="square" lIns="0" tIns="0" rIns="0" bIns="0" rtlCol="0" anchor="ctr"/>
          <a:lstStyle/>
          <a:p>
            <a:pPr marL="0" indent="0" algn="ctr">
              <a:buNone/>
            </a:pPr>
            <a:r>
              <a:rPr lang="en-US" sz="1300" dirty="0">
                <a:solidFill>
                  <a:srgbClr val="595959"/>
                </a:solidFill>
                <a:latin typeface="맑은 고딕" pitchFamily="34" charset="0"/>
                <a:ea typeface="맑은 고딕" pitchFamily="34" charset="-122"/>
                <a:cs typeface="맑은 고딕" pitchFamily="34" charset="-120"/>
              </a:rPr>
              <a:t>온디바이스 AI 자율주행 드론  ·  엣지 AI 정찰 및 요격 드론</a:t>
            </a:r>
            <a:endParaRPr lang="en-US" sz="1300" dirty="0"/>
          </a:p>
        </p:txBody>
      </p:sp>
      <p:pic>
        <p:nvPicPr>
          <p:cNvPr id="7" name="Image 0" descr="/tmp/claude-0/-home-claude/b1200c36-f821-5d38-9354-3ed6e3ae1f6e/scratchpad/a2/knut_logo.png"/>
          <p:cNvPicPr>
            <a:picLocks noChangeAspect="1"/>
          </p:cNvPicPr>
          <p:nvPr/>
        </p:nvPicPr>
        <p:blipFill>
          <a:blip r:embed="rId3"/>
          <a:stretch>
            <a:fillRect/>
          </a:stretch>
        </p:blipFill>
        <p:spPr>
          <a:xfrm>
            <a:off x="458114" y="5891479"/>
            <a:ext cx="1686154" cy="384048"/>
          </a:xfrm>
          <a:prstGeom prst="rect">
            <a:avLst/>
          </a:prstGeom>
        </p:spPr>
      </p:pic>
      <p:sp>
        <p:nvSpPr>
          <p:cNvPr id="8" name="Text 5"/>
          <p:cNvSpPr txBox="1"/>
          <p:nvPr/>
        </p:nvSpPr>
        <p:spPr>
          <a:xfrm>
            <a:off x="6858000" y="5916168"/>
            <a:ext cx="4868266" cy="347472"/>
          </a:xfrm>
          <a:prstGeom prst="rect">
            <a:avLst/>
          </a:prstGeom>
          <a:noFill/>
          <a:ln/>
        </p:spPr>
        <p:txBody>
          <a:bodyPr wrap="square" lIns="0" tIns="0" rIns="0" bIns="0" rtlCol="0" anchor="ctr"/>
          <a:lstStyle/>
          <a:p>
            <a:pPr marL="0" indent="0" algn="r">
              <a:buNone/>
            </a:pPr>
            <a:r>
              <a:rPr lang="en-US" sz="1500" b="1" dirty="0">
                <a:solidFill>
                  <a:srgbClr val="000000"/>
                </a:solidFill>
                <a:latin typeface="맑은 고딕" pitchFamily="34" charset="0"/>
                <a:ea typeface="맑은 고딕" pitchFamily="34" charset="-122"/>
                <a:cs typeface="맑은 고딕" pitchFamily="34" charset="-120"/>
              </a:rPr>
              <a:t>김유나 · 강민서 · 박찬우 · 박준성</a:t>
            </a:r>
            <a:endParaRPr lang="en-US" sz="1500" dirty="0"/>
          </a:p>
        </p:txBody>
      </p:sp>
      <p:sp>
        <p:nvSpPr>
          <p:cNvPr id="9" name="Shape 6"/>
          <p:cNvSpPr/>
          <p:nvPr/>
        </p:nvSpPr>
        <p:spPr>
          <a:xfrm>
            <a:off x="457200" y="6392570"/>
            <a:ext cx="11267237" cy="0"/>
          </a:xfrm>
          <a:prstGeom prst="line">
            <a:avLst/>
          </a:prstGeom>
          <a:noFill/>
          <a:ln w="12700">
            <a:solidFill>
              <a:srgbClr val="BCCBD9"/>
            </a:solidFill>
            <a:prstDash val="solid"/>
          </a:ln>
        </p:spPr>
        <p:txBody>
          <a:bodyPr/>
          <a:lstStyle/>
          <a:p>
            <a:endParaRPr lang="ko-KR"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1369</Words>
  <Application>Microsoft Office PowerPoint</Application>
  <PresentationFormat>와이드스크린</PresentationFormat>
  <Paragraphs>137</Paragraphs>
  <Slides>11</Slides>
  <Notes>11</Notes>
  <HiddenSlides>0</HiddenSlides>
  <MMClips>4</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11</vt:i4>
      </vt:variant>
    </vt:vector>
  </HeadingPairs>
  <TitlesOfParts>
    <vt:vector size="14"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엣지 AI 정찰 및 요격 드론</dc:title>
  <dc:subject/>
  <dc:creator>김유나 · 강민서 · 박찬우 · 박준성</dc:creator>
  <cp:lastModifiedBy>민서 강</cp:lastModifiedBy>
  <cp:revision>2</cp:revision>
  <dcterms:created xsi:type="dcterms:W3CDTF">2026-10-11T00:40:05Z</dcterms:created>
  <dcterms:modified xsi:type="dcterms:W3CDTF">2026-10-11T00:54:34Z</dcterms:modified>
</cp:coreProperties>
</file>